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大家好，我这次汇报的题目是基于 RAG 的 Redis 垂直领域深度问答系统。这个项目的核心目标不是简单调用大模型回答 Redis 问题，而是先把 Redis 官方文档和清洗后的技术语料构造成一个私有知识库，再通过检索增强生成的方式让答案有依据、有来源、可评估。整套仓库包含索引构建、一键推理、量化评估、检索消融、报告和 PPT。后面的汇报我会按照为什么选 Redis、知识库如何构建、RAG 链路怎么设计、实验结果说明什么、以及 Bad Case 如何分析这条线来讲。这里我会先把整体定位说清楚：它既是一个能运行的工程项目，也是一个可以解释 RAG 每个环节作用的课程作业。这样开场可以让老师知道后面的 PPT 不是单纯展示结果，而是在证明系统确实从数据、检索、生成到评估都做完整了。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这一页解释为什么选择 Redis 作为垂直领域。Redis 的知识边界很清楚，文档主题集中在数据结构、命令、持久化、高可用、集群和缓存工程这些内容上，适合构建一个范围明确的私有知识库。同时，Redis 问答中有大量精确术语，例如 AOF、RDB、TTL、WATCH、XREADGROUP，这些词如果没有被检索命中，答案很容易跑偏。第三，Redis 官方文档有稳定的 URL，可以把答案和来源绑定起来，所以这个选题能很好地展示 RAG 相比普通大模型问答的优势，也就是答案不只流畅，还要可追溯、可检查。这一页可以顺带强调，Redis 的难点不是概念有多大，而是术语非常密集。对于这种任务，检索质量会直接决定最终答案质量，所以选 Redis 能更明显地展示 RAG 系统为什么需要 Query Rewriting、BM25 和引用检查。</a:t>
            </a:r>
            <a:r>
              <a:rPr lang="zh-CN" altLang="en-US" dirty="0"/>
              <a:t/>
            </a:r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这一页展示私有知识库的构建流程。数据来源可以是 Redis 官方文档，经过页面抓取、正文清洗以后保存为 JSONL 格式。每条文档都保留 doc_id、title、url 和 text，其中 doc_id 负责评估和引用，url 负责追溯来源，text 是清洗后的正文。为了保证老师本地可以稳定复现，我在仓库里放了一份内置清洗语料，同时保留了采集脚本。也就是说，这个项目既能离线跑通，又能说明真实私有知识库从网页到结构化语料的完整处理过程。讲到这里时，我会强调“私有知识库”不是把资料随便复制进来，而是要保留结构化字段和来源。后面检索、引用和评估都依赖这些字段，所以数据清洗阶段其实决定了整个系统后续能不能被检查和复现。</a:t>
            </a:r>
            <a:r>
              <a:rPr lang="en-US" dirty="0"/>
              <a:t/>
            </a:r>
            <a:r>
              <a:rPr lang="zh-CN" altLang="en-US" dirty="0"/>
              <a:t/>
            </a:r>
            <a:r>
              <a:rPr lang="en-US" dirty="0"/>
              <a:t/>
            </a:r>
            <a:r>
              <a:rPr lang="zh-CN" altLang="en-US" dirty="0"/>
              <a:t/>
            </a:r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这一页说明知识库覆盖范围。它不是只放几个 Redis 命令，而是覆盖了基础数据结构、生命周期管理、可靠性、高可用、横向扩展、脚本能力、消息机制和缓存工程。比如基础结构里有 String、Hash、List、Stream 和 Sorted Set，可靠性里有 RDB 和 AOF，高可用里有 Replication 和 Sentinel，缓存工程里有缓存穿透、击穿和雪崩。这样设计的好处是评估问题可以更全面，既能问一个单点命令，也能问架构机制和工程实践。这一页可以作为知识库的范围说明。它既覆盖常见命令，也覆盖高可用、集群和缓存风险这些工程问题，因此评估问题不是只问一个命令解释，而是能覆盖真实用户在学习或使用 Redis 时会问到的典型场景。</a:t>
            </a:r>
            <a:r>
              <a:rPr lang="en-US" dirty="0"/>
              <a:t/>
            </a:r>
            <a:r>
              <a:rPr lang="zh-CN" altLang="en-US" dirty="0"/>
              <a:t/>
            </a:r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这一页讲 Chunking。技术文档不能随便按长度切，因为 Redis 的命令名和缩写往往就是问题的关键。我实现了 Redis-aware tokenizer，专门保留 AOF、RDB、TTL、EXPIRE、WATCH 这类命令和缩写，也识别持久化、主从复制、消费者组这些中文领域词。默认 chunk_size 是 320，overlap 是 40，这样每个片段既不会太短导致上下文不足，也不会太长带入太多噪声。每个 chunk 还保存来源标题、URL 和 token 范围，后面做引用和调试时就能知道答案来自哪里。这里要突出一个关键点：Chunking 不只是把文本切短，而是在控制检索粒度。如果 chunk 太小，答案上下文不完整；如果 chunk 太大，弱相关信息会污染生成。现在的参数是在可读性、召回和噪声之间做了一个平衡。</a:t>
            </a:r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这一页介绍 Embedding 和向量库。为了保证课程作业可以在普通电脑上直接复现，默认方案使用 hashing embedding 和本地 JSONL 向量库，不需要下载模型，也不依赖 GPU。为了增加深度，我又加入了 BGE 和 SentenceTransformer 的可选接口，还提供 FAISS 和 Chroma 的向量库适配。这样做的取舍是：默认路径稳，老师一键运行不会卡在依赖下载；增强路径也存在，如果要做更接近真实生产系统的实验，可以直接切换到 BGE embedding、FAISS 或 Chroma。讲这一页时，我会把“可复现”和“可扩展”分开说。默认 hashing embedding 是为了保证任何机器都能跑；BGE、FAISS 和 Chroma 是为了说明系统不是玩具结构，后续换成更强模型和向量库时，接口已经准备好了。</a:t>
            </a:r>
            <a:r>
              <a:rPr lang="zh-CN" altLang="en-US" dirty="0"/>
              <a:t/>
            </a:r>
            <a:r>
              <a:rPr lang="en-US" dirty="0"/>
              <a:t/>
            </a:r>
            <a:r>
              <a:rPr lang="zh-CN" altLang="en-US" dirty="0"/>
              <a:t/>
            </a:r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这一页集中展示已经完成的增强扩展。这里不是简单写后续工作，而是已经在代码里实现了可运行或可选启用的路径。第一，新增 SentenceTransformerEmbeddingModel，可以通过参数切换到 BGE。第二，新增 FAISS 和 Chroma 的 vector store adapter。第三，reranker 除了轻量版，也保留 cross-encoder 和 BGE reranker 入口。第四，评估集从原来的 10 条扩展到 20 条，覆盖更多 Redis 主题。第五，新增 compare_retrieval.py，可以做 pure vector、BM25、hybrid、hybrid rerank 的消融对比。第六，生成后会输出 citation_check，检查答案引用是否有效。这一页最好讲得明确一点：这些扩展不是 PPT 上写的空话，而是已经在命令行参数和代码模块里提供了入口。这样老师如果追问“后续工作有没有做”，可以直接指出具体文件和参数，而不是停留在概念层。</a:t>
            </a:r>
            <a:r>
              <a:rPr lang="zh-CN" altLang="en-US" dirty="0"/>
              <a:t/>
            </a:r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 Query Rewriting。Redis 官方文档里很多术语是英文，但用户提问经常是中文，比如持久化、高可用、过期、队列。如果直接拿中文问题去检索英文文档，很容易召回不稳定。因此系统维护了一个领域词扩展表，把持久化扩展成 persistence、RDB、AOF、snapshot，把高可用扩展成 replication、sentinel、failover，把队列扩展成 list、stream、consumer group。这个模块的作用不是生成答案，而是在检索前把问题改写成更容易命中文档的形式。这里可以举一个具体例子：用户说“持久化”，Redis 文档里可能写的是 persistence、snapshot 或 append only file。如果不做查询重写，中文问题和英文文档之间会断开；做了扩展后，检索器才更容易找到真正相关片段。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这一页解释 Hybrid Retrieval。单纯向量检索能处理语义相似，但对 AOF、RDB、TTL、WATCH 这种精确术语未必足够敏感；单纯 BM25 对关键词非常强，但遇到中英文表达差异和同义表达时又会受限。因此系统把向量分数和 BM25 分数做归一化融合，公式是 score 等于 0.45 乘向量分数加 0.55 乘 BM25 分数。这里 BM25 权重略高，是因为 Redis 问答是命令密集型任务，精确术语命中对答案正确性非常关键。这一页可以把消融实验先埋个伏笔：后面结果会看到 pure vector 在 Redis 任务里弱一些，原因就在于向量检索不一定能抓住命令名。Hybrid 的意义就是让语义匹配和精确匹配同时发挥作用。</a:t>
            </a:r>
            <a:r>
              <a:rPr lang="zh-CN" altLang="en-US" dirty="0"/>
              <a:t/>
            </a:r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这一页展示端到端系统架构。左侧是离线构建阶段，Redis 文档先清洗成 JSONL，再经过 Chunking，之后同时进入 embedding 向量库和 BM25 索引。右侧是在线问答阶段，用户问题先经过 Query Rewriting，然后进入 Hybrid Retriever，候选片段再经过 reranker 二次排序，最后把筛选后的上下文交给 DeepSeek 或抽取式生成器。生成答案之后还会做 citation checking，检查引用编号是否存在、是否和上下文有关。整条链路的重点是可解释、可替换、可复现。讲架构时我会按离线和在线两条线走。离线部分负责把文档变成可检索索引，在线部分负责把问题变成检索请求并生成答案。这样老师能更清楚地看到系统不是一个黑盒，而是每一步都有输入、输出和可替换模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这一页讲生成模块。项目支持 DeepSeek，只要通过环境变量配置 DEEPSEEK_API_KEY，默认模型就是 deepseek-v4-pro。提示词里要求模型只能依据检索上下文回答，并且必须带 [1] 这样的来源引用。如果没有 API key，系统会自动使用抽取式回退，从检索片段里抽取最相关的句子组成答案。这个回退模式虽然表达没有强 LLM 那么自然，但它保证了作业在离线环境下也能完整运行，并且所有答案都来自知识库上下文。这里要说明为什么保留抽取式回退：课程作业经常需要在没有网络或没有 API key 的环境下展示，回退模式能保证系统仍然完整运行。DeepSeek 负责更自然的表达，抽取式生成负责稳定复现和忠实于上下文。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这一页介绍评估方案。RAG 系统不能只展示一个看起来不错的答案，还要量化检索和生成的效果。所以我设置了三个指标：Context Relevance 看检索结果是否覆盖标注相关文档，Faithfulness 看答案内容是否能被上下文支持，Answer Relevance 看答案是否覆盖问题需要的关键词。评估集现在有 20 条 Redis 技术问题，覆盖数据结构、持久化、高可用、Cluster、Lua、缓存风险等主题，结果会保存为 JSON 和 CSV，方便复查和写报告。我会强调这三个指标分别对应 RAG 的三个问题：有没有找对资料，回答有没有依据，回答有没有切题。只看一个最终答案很主观，而这三个指标能把系统能力拆开看，便于定位问题到底出在检索还是生成。</a:t>
            </a:r>
            <a:r>
              <a:rPr lang="zh-CN" altLang="en-US" dirty="0"/>
              <a:t/>
            </a:r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这一页展示实际评估结果。图里的数值来自真实运行 evaluate.py --rebuild，不是手工编造。20 条问题下，Context Relevance 是 0.9750，说明检索整体比较稳定，但对于个别多主题问题仍然可能漏掉一部分 gold 文档；Faithfulness 是 0.8319，说明答案大部分内容能被检索上下文支持；Answer Relevance 是 0.9375，说明答案基本覆盖关键要点。这组结果说明系统已经能完成课程要求，同时也保留了可以继续优化的空间。这一页讲结果时不要只念分数，还要解释分数背后的含义。Context Relevance 高说明知识库和检索策略整体有效，Faithfulness 不是满分说明自动生成仍可能带来表达上的扩展，Answer Relevance 高说明答案基本覆盖用户问题中的关键点。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这一页是检索策略消融实验。compare_retrieval.py 在同一批 20 条问题上对比 pure vector、BM25、hybrid 和 hybrid rerank。结果可以看到，pure vector 的 Context Relevance、Top-1 Hit 和 MRR 都低于其他策略，说明只靠向量检索不适合 Redis 这种命令名密集的技术文档。BM25 在当前评估集上表现非常强，hybrid 和 hybrid rerank 保持了 Top-1 与 MRR 的稳定。rerank 的价值主要在于提供最终排序和术语覆盖等可解释字段，方便后续做 Bad Case 分析。这一页是整套作业比较有深度的地方。它说明我没有只给出一个最终系统，而是比较了不同检索策略。BM25 在当前 Redis 任务里很强，这也反过来证明技术文档问答不能盲目迷信纯向量检索。</a:t>
            </a:r>
            <a:r>
              <a:rPr lang="zh-CN" altLang="en-US" dirty="0"/>
              <a:t/>
            </a:r>
            <a:r>
              <a:rPr lang="en-US" dirty="0"/>
              <a:t/>
            </a:r>
            <a:r>
              <a:rPr lang="zh-CN" altLang="en-US" dirty="0"/>
              <a:t/>
            </a:r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这一页用 AOF 和 RDB 的问题做案例分析。这里放的是 infer.py 真实运行输出，系统最终命中了 redis:persistence 文档，最终 score 是 1.0819，其中 combined_score 是 1.0000，reranker 又根据 AOF、RDB、persistence 这些术语覆盖给了额外加分。答案说明 RDB 是快照，适合备份和快速恢复；AOF 是追加日志，通常提供更好的数据安全性。这个案例能说明 Query Rewriting、BM25 精确匹配和轻量重排序是如何共同把问题定位到正确文档上的。案例页可以讲得更细一点：AOF 和 RDB 这种问题同时包含中文概念和英文缩写，正好考验 Query Rewriting、BM25 和 rerank。最后 persistence 文档排第一，说明系统不仅答对了，而且能解释为什么选择这个来源。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最后一页做总结和反思。表格来自 infer.py --json 的真实输出，可以看到 redis:persistence 排名第一，而 redis:pubsub 虽然也被召回，但分数明显低一些。这个 Bad Case 很典型，因为 Pub/Sub 文档里也出现了“不会持久化”这类词，容易形成弱相关召回。系统通过 Query Rewriting、Hybrid Retrieval、Rerank 和上下文过滤把真正相关文档排在前面，并且用 citation checking 检查答案引用。总体来说，这个项目已经形成从知识库构建、检索、生成、评估到展示材料的完整闭环。最后收束时，我会把贡献总结成四句话：有私有知识库，有高级检索策略，有真实量化评估，有 Bad Case 和改进分析。这样结束会比较完整，也能回应作业要求中的系统构建、优化、评估和深度分析。</a:t>
            </a:r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0"/>
            <a:ext cx="3867912" cy="6858000"/>
          </a:xfrm>
          <a:prstGeom prst="rect">
            <a:avLst/>
          </a:prstGeom>
          <a:solidFill>
            <a:srgbClr val="8A1C14">
              <a:alpha val="90000"/>
            </a:srgbClr>
          </a:solidFill>
          <a:ln w="12700">
            <a:solidFill>
              <a:srgbClr val="8A1C1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078992"/>
            <a:ext cx="585216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Redis-RAG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841375" y="1901825"/>
            <a:ext cx="6675120" cy="56769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基于 RAG 的问答系统构建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14350" y="3379470"/>
            <a:ext cx="7198360" cy="109156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DDE7F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私有知识库 · 混合检索 · DeepSeek 生成 · 三维量化评估</a:t>
            </a:r>
            <a:endParaRPr lang="en-US" sz="2000" b="1" dirty="0">
              <a:solidFill>
                <a:srgbClr val="DDE7F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868680" y="3364992"/>
            <a:ext cx="722376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9006840" y="1417320"/>
            <a:ext cx="2148840" cy="2148840"/>
          </a:xfrm>
          <a:prstGeom prst="roundRect">
            <a:avLst>
              <a:gd name="adj" fmla="val 0"/>
            </a:avLst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81160" y="1920240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RAG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308592" y="2578608"/>
            <a:ext cx="1517904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Redis Docs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QA System</a:t>
            </a:r>
            <a:endParaRPr lang="en-US" sz="1300" dirty="0"/>
          </a:p>
        </p:txBody>
      </p:sp>
      <p:pic>
        <p:nvPicPr>
          <p:cNvPr id="11" name="Image 0" descr="slides/assets/hero_redis_ra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4084955"/>
            <a:ext cx="3749040" cy="211455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6199632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2026.06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选题动机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为什么选 Redis 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Redis-RAG 垂直领域问答  |  2/16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3444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234440"/>
            <a:ext cx="91440" cy="182880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264" y="139903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边界清晰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9264" y="1801368"/>
            <a:ext cx="3044952" cy="11155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Redis 文档围绕数据结构、命令、持久化、高可用、集群和缓存工程展开，知识范围明确，适合构建私有知识库。</a:t>
            </a:r>
            <a:endParaRPr lang="en-US" dirty="0">
              <a:solidFill>
                <a:srgbClr val="24313D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389120" y="123444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89120" y="1234440"/>
            <a:ext cx="91440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6864" y="139903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术语密集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26864" y="1801368"/>
            <a:ext cx="3044952" cy="11155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AOF、RDB、TTL、XREADGROUP、WATCH、EXEC 等精确术语决定答案质量，适合展示检索策略差异。</a:t>
            </a:r>
            <a:endParaRPr lang="en-US" dirty="0">
              <a:solidFill>
                <a:srgbClr val="24313D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046720" y="123444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234440"/>
            <a:ext cx="91440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84464" y="139903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可追溯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84464" y="1801368"/>
            <a:ext cx="3044952" cy="111556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Redis 官方文档页面稳定，每条知识记录保留 URL，答案可带来源引用，便于分析 Faithfulness。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77240" y="3730752"/>
            <a:ext cx="3749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技术文档 RAG 的三个难点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60120" y="4251960"/>
            <a:ext cx="9875520" cy="147383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lnSpc>
                <a:spcPct val="150000"/>
              </a:lnSpc>
              <a:buSzPct val="100000"/>
              <a:buChar char="•"/>
            </a:pPr>
            <a:r>
              <a:rPr lang="en-US" sz="20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中文问题与英文官方术语存在表达差异</a:t>
            </a:r>
            <a:endParaRPr lang="en-US" sz="2000" dirty="0"/>
          </a:p>
          <a:p>
            <a:pPr marL="177800" indent="-177800">
              <a:lnSpc>
                <a:spcPct val="150000"/>
              </a:lnSpc>
              <a:buSzPct val="100000"/>
              <a:buChar char="•"/>
            </a:pPr>
            <a:r>
              <a:rPr lang="en-US" sz="20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相似概念容易误召回，例如 Pub/Sub 与 Stream、RDB 与 AOF</a:t>
            </a:r>
            <a:endParaRPr lang="en-US" sz="2000" dirty="0"/>
          </a:p>
          <a:p>
            <a:pPr marL="177800" indent="-177800">
              <a:lnSpc>
                <a:spcPct val="150000"/>
              </a:lnSpc>
              <a:buSzPct val="100000"/>
              <a:buChar char="•"/>
            </a:pPr>
            <a:r>
              <a:rPr lang="en-US" sz="20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答案必须忠实于上下文，不能凭模型记忆补充未检索到的内容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数据构建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私有知识库构建流程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Redis-RAG 垂直领域问答  |  3/16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34440"/>
            <a:ext cx="1783080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5240">
            <a:solidFill>
              <a:srgbClr val="D92D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25880"/>
            <a:ext cx="1636776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Redis 官方文档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2606040" y="1563624"/>
            <a:ext cx="36576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971800" y="1234440"/>
            <a:ext cx="1417320" cy="658368"/>
          </a:xfrm>
          <a:prstGeom prst="roundRect">
            <a:avLst>
              <a:gd name="adj" fmla="val 4861"/>
            </a:avLst>
          </a:prstGeom>
          <a:solidFill>
            <a:srgbClr val="FDE8E5"/>
          </a:solidFill>
          <a:ln w="15240">
            <a:solidFill>
              <a:srgbClr val="D92D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4952" y="1325880"/>
            <a:ext cx="1271016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页面抓取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480560" y="1563624"/>
            <a:ext cx="36576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846320" y="1234440"/>
            <a:ext cx="1417320" cy="658368"/>
          </a:xfrm>
          <a:prstGeom prst="roundRect">
            <a:avLst>
              <a:gd name="adj" fmla="val 4861"/>
            </a:avLst>
          </a:prstGeom>
          <a:solidFill>
            <a:srgbClr val="EAF2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19472" y="1325880"/>
            <a:ext cx="1271016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清洗正文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355080" y="1563624"/>
            <a:ext cx="36576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720840" y="1234440"/>
            <a:ext cx="1554480" cy="658368"/>
          </a:xfrm>
          <a:prstGeom prst="roundRect">
            <a:avLst>
              <a:gd name="adj" fmla="val 4861"/>
            </a:avLst>
          </a:prstGeom>
          <a:solidFill>
            <a:srgbClr val="E9F8F4"/>
          </a:solidFill>
          <a:ln w="1524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93992" y="1325880"/>
            <a:ext cx="1408176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JSONL 语料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366760" y="1563624"/>
            <a:ext cx="36576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732520" y="1234440"/>
            <a:ext cx="1417320" cy="658368"/>
          </a:xfrm>
          <a:prstGeom prst="roundRect">
            <a:avLst>
              <a:gd name="adj" fmla="val 4861"/>
            </a:avLst>
          </a:prstGeom>
          <a:solidFill>
            <a:srgbClr val="FDE8E5"/>
          </a:solidFill>
          <a:ln w="15240">
            <a:solidFill>
              <a:srgbClr val="D92D2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05672" y="1325880"/>
            <a:ext cx="1271016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索引构建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0241280" y="1563624"/>
            <a:ext cx="36576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607040" y="1234440"/>
            <a:ext cx="1143000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5240">
            <a:solidFill>
              <a:srgbClr val="D92D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80192" y="1325880"/>
            <a:ext cx="996696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问答系统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77240" y="2606040"/>
            <a:ext cx="516636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2606040"/>
            <a:ext cx="91440" cy="201168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14984" y="2770632"/>
            <a:ext cx="478231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文档字段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14730" y="3025775"/>
            <a:ext cx="4782185" cy="15925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7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doc_id：评估和引用使用</a:t>
            </a:r>
            <a:endParaRPr lang="en-US" sz="17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7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title：展示标题</a:t>
            </a:r>
            <a:endParaRPr lang="en-US" sz="17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7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url：官方来源追溯</a:t>
            </a:r>
            <a:endParaRPr lang="en-US" sz="17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7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text：清洗后的正文内容</a:t>
            </a:r>
            <a:endParaRPr lang="en-US" sz="1700" dirty="0">
              <a:solidFill>
                <a:srgbClr val="24313D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309360" y="2606040"/>
            <a:ext cx="516636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309360" y="2606040"/>
            <a:ext cx="91440" cy="20116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47104" y="2770632"/>
            <a:ext cx="478231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覆盖主题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547104" y="3172968"/>
            <a:ext cx="4782312" cy="129844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数据结构、TTL、内存淘汰、RDB/AOF、Replication、Sentinel、Cluster、事务、Lua、Pub/Sub、缓存风险</a:t>
            </a: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22960" y="5257800"/>
            <a:ext cx="1042416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关键取舍：内置语料保证离线可复现，采集脚本体现真实私有知识库构建流程。</a:t>
            </a:r>
            <a:endParaRPr lang="en-US" sz="2000" b="1" dirty="0">
              <a:solidFill>
                <a:srgbClr val="17212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数据构建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知识库主题覆盖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Redis-RAG 垂直领域问答  |  4/16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58368" y="1078992"/>
            <a:ext cx="10927080" cy="5285232"/>
          </a:xfrm>
          <a:prstGeom prst="roundRect">
            <a:avLst>
              <a:gd name="adj" fmla="val 69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7" name="Image 0" descr="slides/assets/knowledge_base_overvie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133856"/>
            <a:ext cx="10817352" cy="51755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文档处理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Chunking：让检索单元既可命中又可阅读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Redis-RAG 垂直领域问答  |  5/16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772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143000"/>
            <a:ext cx="91440" cy="182880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4984" y="130759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Redis-aware tokenizer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4984" y="1709928"/>
            <a:ext cx="3044952" cy="111556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 AOF、RDB、TTL、EXPIRE、XREADGROUP、WATCH 等命令名和缩写，也识别“持久化”“消费者组”等中文领域词。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34840" y="1143000"/>
            <a:ext cx="91440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72584" y="130759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重叠分块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72584" y="1709928"/>
            <a:ext cx="3044952" cy="111556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 chunk_size=320，overlap=40。长文档切分后相邻 chunk 保留上下文连接，避免答案依据被切断。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92440" y="1143000"/>
            <a:ext cx="91440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0184" y="130759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可解释元数据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30184" y="1709928"/>
            <a:ext cx="3044952" cy="111556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 chunk 保存 chunk_id、doc_id、source_title、url、start_token、end_token，便于引用和调试。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" y="3749040"/>
            <a:ext cx="38404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示例：AOF/RDB 问题的关键 token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68680" y="4251960"/>
            <a:ext cx="1143000" cy="457200"/>
          </a:xfrm>
          <a:prstGeom prst="roundRect">
            <a:avLst>
              <a:gd name="adj" fmla="val 8000"/>
            </a:avLst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4361688"/>
            <a:ext cx="77724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持久化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2148840" y="4251960"/>
            <a:ext cx="1417320" cy="4572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331720" y="4361815"/>
            <a:ext cx="1207135" cy="26035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lnSpcReduction="2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persistence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703320" y="4251960"/>
            <a:ext cx="914400" cy="457200"/>
          </a:xfrm>
          <a:prstGeom prst="roundRect">
            <a:avLst>
              <a:gd name="adj" fmla="val 8000"/>
            </a:avLst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86200" y="436168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RDB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754880" y="4251960"/>
            <a:ext cx="914400" cy="457200"/>
          </a:xfrm>
          <a:prstGeom prst="roundRect">
            <a:avLst>
              <a:gd name="adj" fmla="val 8000"/>
            </a:avLst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436168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AOF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5806440" y="4251960"/>
            <a:ext cx="128016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89320" y="4361815"/>
            <a:ext cx="1026795" cy="24447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snapshot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7223760" y="4251960"/>
            <a:ext cx="1920240" cy="4572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06640" y="4361815"/>
            <a:ext cx="1694180" cy="2362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append only file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14400" y="5166360"/>
            <a:ext cx="9966960" cy="38481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如果这些 token 被切掉或弱化，检索会更容易偏到其他包含“持久化”字样的文档。</a:t>
            </a:r>
            <a:endParaRPr lang="en-US" dirty="0">
              <a:solidFill>
                <a:srgbClr val="24313D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向量索引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Embedding 与向量库：默认可复现，可选增强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Redis-RAG 垂直领域问答  |  6/16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77240" y="1234440"/>
            <a:ext cx="3520440" cy="2057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234440"/>
            <a:ext cx="91440" cy="205740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4984" y="1399032"/>
            <a:ext cx="313639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默认方案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4730" y="1801495"/>
            <a:ext cx="3237865" cy="134429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HashingEmbeddingModel</a:t>
            </a:r>
            <a:endParaRPr lang="en-US" sz="16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维度：256</a:t>
            </a:r>
            <a:endParaRPr lang="en-US" sz="16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无需下载模型、无需 GPU、结果稳定，适合直接复现。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26280" y="1234440"/>
            <a:ext cx="3520440" cy="2057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1234440"/>
            <a:ext cx="91440" cy="20574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64024" y="1399032"/>
            <a:ext cx="313639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可选 BGE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64024" y="1801368"/>
            <a:ext cx="3136392" cy="134416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SentenceTransformerEmbeddingModel</a:t>
            </a:r>
            <a:endParaRPr lang="en-US" sz="16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支持 BAAI/bge-small-zh-v1.5</a:t>
            </a:r>
            <a:endParaRPr lang="en-US" sz="16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适合有模型缓存或网络环境时启用。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75320" y="1234440"/>
            <a:ext cx="2880360" cy="2057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75320" y="1234440"/>
            <a:ext cx="91440" cy="2057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13064" y="1399032"/>
            <a:ext cx="249631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向量库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513064" y="1801368"/>
            <a:ext cx="2496312" cy="134416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Local JSONL</a:t>
            </a:r>
            <a:endParaRPr lang="en-US" sz="16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FAISS adapter</a:t>
            </a:r>
            <a:endParaRPr lang="en-US" sz="16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Chroma adapter</a:t>
            </a:r>
            <a:endParaRPr lang="en-US" sz="16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默认不强依赖外部服务。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14400" y="3977640"/>
            <a:ext cx="10332720" cy="123444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0" y="4179570"/>
            <a:ext cx="9966325" cy="86995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dirty="0">
                <a:solidFill>
                  <a:srgbClr val="17212B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"chunk": { "doc_id": "redis:persistence", "title": "...", "text": "..." }</a:t>
            </a:r>
            <a:endParaRPr lang="en-US" dirty="0"/>
          </a:p>
          <a:p>
            <a:pPr marL="0" indent="0">
              <a:lnSpc>
                <a:spcPct val="150000"/>
              </a:lnSpc>
              <a:buNone/>
            </a:pPr>
            <a:r>
              <a:rPr lang="en-US" dirty="0">
                <a:solidFill>
                  <a:srgbClr val="17212B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"vector": [0.0, 0.12, -0.04, ...]</a:t>
            </a:r>
            <a:endParaRPr lang="en-US" dirty="0">
              <a:solidFill>
                <a:srgbClr val="17212B"/>
              </a:solidFill>
              <a:latin typeface="Courier New" panose="02070409020205090404" pitchFamily="34" charset="0"/>
              <a:ea typeface="Courier New" panose="02070409020205090404" pitchFamily="34" charset="-122"/>
              <a:cs typeface="Courier New" panose="020704090202050904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14400" y="5596128"/>
            <a:ext cx="1014984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实现原则：默认路径稳，增强路径可选；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高级 RAG 优化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增强扩展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Redis-RAG 垂直领域问答  |  7/16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85800" y="1078992"/>
            <a:ext cx="10835640" cy="548640"/>
          </a:xfrm>
          <a:prstGeom prst="roundRect">
            <a:avLst>
              <a:gd name="adj" fmla="val 6667"/>
            </a:avLst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874520"/>
            <a:ext cx="3429000" cy="141732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1874520"/>
            <a:ext cx="91440" cy="141732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9264" y="203911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BGE Embedding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9010" y="2158365"/>
            <a:ext cx="3044825" cy="98742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SentenceTransformerEmbeddingModel，可用 --embedding-model bge 启用。默认 hashing 保证离线可复现。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4389120" y="1874520"/>
            <a:ext cx="3429000" cy="141732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89120" y="1874520"/>
            <a:ext cx="91440" cy="14173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6864" y="203911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FAISS / Chroma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26864" y="2441448"/>
            <a:ext cx="3044952" cy="70408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新增向量库 adapter，可通过 --vector-store faiss 或 chroma 切换；未安装依赖时提示清晰。</a:t>
            </a:r>
            <a:endParaRPr lang="en-US" sz="1320" dirty="0"/>
          </a:p>
        </p:txBody>
      </p:sp>
      <p:sp>
        <p:nvSpPr>
          <p:cNvPr id="16" name="Shape 14"/>
          <p:cNvSpPr/>
          <p:nvPr/>
        </p:nvSpPr>
        <p:spPr>
          <a:xfrm>
            <a:off x="8046720" y="1874520"/>
            <a:ext cx="3429000" cy="141732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0" y="1874520"/>
            <a:ext cx="91440" cy="1417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84464" y="203911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BGE Reranker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84464" y="2441448"/>
            <a:ext cx="3044952" cy="70408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 cross-encoder reranker 入口，可用 --reranker cross-encoder 启用，默认轻量 reranker。</a:t>
            </a:r>
            <a:endParaRPr lang="en-US" sz="1320" dirty="0"/>
          </a:p>
        </p:txBody>
      </p:sp>
      <p:sp>
        <p:nvSpPr>
          <p:cNvPr id="20" name="Shape 18"/>
          <p:cNvSpPr/>
          <p:nvPr/>
        </p:nvSpPr>
        <p:spPr>
          <a:xfrm>
            <a:off x="731520" y="3794760"/>
            <a:ext cx="3429000" cy="141732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794760"/>
            <a:ext cx="91440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9264" y="395935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 条评估集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69264" y="4361688"/>
            <a:ext cx="3044952" cy="70408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评估问题从 10 条扩到 20 条，覆盖 String、Hash、List、Stream、Replication、Cluster 等。</a:t>
            </a:r>
            <a:endParaRPr lang="en-US" sz="1320" dirty="0"/>
          </a:p>
        </p:txBody>
      </p:sp>
      <p:sp>
        <p:nvSpPr>
          <p:cNvPr id="24" name="Shape 22"/>
          <p:cNvSpPr/>
          <p:nvPr/>
        </p:nvSpPr>
        <p:spPr>
          <a:xfrm>
            <a:off x="4389120" y="3794760"/>
            <a:ext cx="3429000" cy="141732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89120" y="3794760"/>
            <a:ext cx="91440" cy="141732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26864" y="395935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检索消融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626864" y="4361688"/>
            <a:ext cx="3044952" cy="70408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 compare_retrieval.py，对比 pure vector、BM25、hybrid、hybrid+rerank。</a:t>
            </a:r>
            <a:endParaRPr lang="en-US" sz="1320" dirty="0"/>
          </a:p>
        </p:txBody>
      </p:sp>
      <p:sp>
        <p:nvSpPr>
          <p:cNvPr id="28" name="Shape 26"/>
          <p:cNvSpPr/>
          <p:nvPr/>
        </p:nvSpPr>
        <p:spPr>
          <a:xfrm>
            <a:off x="8046720" y="3794760"/>
            <a:ext cx="3429000" cy="141732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46720" y="3794760"/>
            <a:ext cx="91440" cy="14173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84464" y="395935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Citation Checking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284464" y="4361688"/>
            <a:ext cx="3044952" cy="70408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生成后自动检查 [1] 这类引用编号是否存在，并输出 citation_check。</a:t>
            </a:r>
            <a:endParaRPr lang="en-US" sz="13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高级 RAG 优化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Query Rewriting：连接中文问题与英文术语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Redis-RAG 垂直领域问答  |  8/16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22960" y="1143000"/>
            <a:ext cx="3485236" cy="586740"/>
          </a:xfrm>
          <a:prstGeom prst="rect">
            <a:avLst/>
          </a:prstGeom>
          <a:solidFill>
            <a:srgbClr val="FDE8E5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08196" y="1143000"/>
            <a:ext cx="7076084" cy="586740"/>
          </a:xfrm>
          <a:prstGeom prst="rect">
            <a:avLst/>
          </a:prstGeom>
          <a:solidFill>
            <a:srgbClr val="FDE8E5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225296"/>
            <a:ext cx="3302356" cy="44043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用户表达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17924" y="1225296"/>
            <a:ext cx="6893204" cy="44043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扩展后的检索术语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1729740"/>
            <a:ext cx="3485236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08196" y="1729740"/>
            <a:ext cx="7076084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1812036"/>
            <a:ext cx="3302356" cy="44043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持久化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4417924" y="1812036"/>
            <a:ext cx="6893204" cy="44043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persistence, RDB, AOF, snapshot, append only file, durability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822960" y="2316480"/>
            <a:ext cx="3485236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08196" y="2316480"/>
            <a:ext cx="7076084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2398776"/>
            <a:ext cx="3302356" cy="44043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高可用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4417924" y="2398776"/>
            <a:ext cx="6893204" cy="44043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replication, sentinel, failover, cluster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822960" y="2903220"/>
            <a:ext cx="3485236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08196" y="2903220"/>
            <a:ext cx="7076084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2985516"/>
            <a:ext cx="3302356" cy="44043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过期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4417924" y="2985516"/>
            <a:ext cx="6893204" cy="44043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expire, TTL, timeout, key expiration</a:t>
            </a:r>
            <a:endParaRPr lang="en-US" sz="1220" dirty="0"/>
          </a:p>
        </p:txBody>
      </p:sp>
      <p:sp>
        <p:nvSpPr>
          <p:cNvPr id="22" name="Shape 20"/>
          <p:cNvSpPr/>
          <p:nvPr/>
        </p:nvSpPr>
        <p:spPr>
          <a:xfrm>
            <a:off x="822960" y="3489960"/>
            <a:ext cx="3485236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08196" y="3489960"/>
            <a:ext cx="7076084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2688" y="3572256"/>
            <a:ext cx="3302356" cy="44043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队列</a:t>
            </a:r>
            <a:endParaRPr lang="en-US" sz="1220" dirty="0"/>
          </a:p>
        </p:txBody>
      </p:sp>
      <p:sp>
        <p:nvSpPr>
          <p:cNvPr id="25" name="Text 23"/>
          <p:cNvSpPr/>
          <p:nvPr/>
        </p:nvSpPr>
        <p:spPr>
          <a:xfrm>
            <a:off x="4417924" y="3572256"/>
            <a:ext cx="6893204" cy="44043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list, stream, consumer group, XREADGROUP</a:t>
            </a:r>
            <a:endParaRPr lang="en-US" sz="1220" dirty="0"/>
          </a:p>
        </p:txBody>
      </p:sp>
      <p:sp>
        <p:nvSpPr>
          <p:cNvPr id="26" name="Shape 24"/>
          <p:cNvSpPr/>
          <p:nvPr/>
        </p:nvSpPr>
        <p:spPr>
          <a:xfrm>
            <a:off x="822960" y="4076700"/>
            <a:ext cx="3485236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08196" y="4076700"/>
            <a:ext cx="7076084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4158996"/>
            <a:ext cx="3302356" cy="44043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Lua</a:t>
            </a:r>
            <a:endParaRPr lang="en-US" sz="1220" dirty="0"/>
          </a:p>
        </p:txBody>
      </p:sp>
      <p:sp>
        <p:nvSpPr>
          <p:cNvPr id="29" name="Text 27"/>
          <p:cNvSpPr/>
          <p:nvPr/>
        </p:nvSpPr>
        <p:spPr>
          <a:xfrm>
            <a:off x="4417924" y="4158996"/>
            <a:ext cx="6893204" cy="44043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eval, script, scripting, atomic</a:t>
            </a:r>
            <a:endParaRPr lang="en-US" sz="1220" dirty="0"/>
          </a:p>
        </p:txBody>
      </p:sp>
      <p:sp>
        <p:nvSpPr>
          <p:cNvPr id="30" name="Shape 28"/>
          <p:cNvSpPr/>
          <p:nvPr/>
        </p:nvSpPr>
        <p:spPr>
          <a:xfrm>
            <a:off x="960120" y="5166360"/>
            <a:ext cx="10241280" cy="566928"/>
          </a:xfrm>
          <a:prstGeom prst="roundRect">
            <a:avLst>
              <a:gd name="adj" fmla="val 6452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43000" y="5276088"/>
            <a:ext cx="987552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作用：提升召回率，减少“中文提问找不到英文文档术语”的问题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高级 RAG 优化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Hybrid Retrieval：BM25 与向量检索互补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Redis-RAG 垂直领域问答  |  9/16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22960" y="1097280"/>
            <a:ext cx="49377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08176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score = 0.45 × vector + 0.55 × BM25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2468880"/>
            <a:ext cx="3337560" cy="187452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468880"/>
            <a:ext cx="91440" cy="18745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2633472"/>
            <a:ext cx="295351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向量检索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0704" y="3035808"/>
            <a:ext cx="2953512" cy="116128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擅长语义相似：例如“高可用”与“failover”之间不完全字面匹配，但语义相关。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434840" y="2468880"/>
            <a:ext cx="3337560" cy="187452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34840" y="2468880"/>
            <a:ext cx="91440" cy="187452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633472"/>
            <a:ext cx="295351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BM25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72584" y="3035808"/>
            <a:ext cx="2953512" cy="116128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擅长精确匹配：AOF、RDB、TTL、WATCH 等命令名必须被强命中。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46720" y="2468880"/>
            <a:ext cx="3337560" cy="187452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0" y="2468880"/>
            <a:ext cx="91440" cy="1874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84464" y="2633472"/>
            <a:ext cx="295351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融合排序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84464" y="3035808"/>
            <a:ext cx="2953512" cy="116128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先归一化两个分数，再线性加权。Redis 场景中 BM25 权重略高。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68680" y="521208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核心判断：Redis 问答不是纯语义任务，而是“语义理解 + 精确术语命中”的组合任务。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系统流程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端到端系统架构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Redis-RAG 垂直领域问答  |  10/16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82320" y="1139825"/>
            <a:ext cx="10047605" cy="4984750"/>
          </a:xfrm>
          <a:prstGeom prst="roundRect">
            <a:avLst>
              <a:gd name="adj" fmla="val 71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7" name="Image 0" descr="slides/assets/architecture_flo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8840" y="1145540"/>
            <a:ext cx="10047605" cy="49002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 生成策略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生成模块：DeepSeek 优先，离线可回退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Redis-RAG 垂直领域问答  |  11/16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772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143000"/>
            <a:ext cx="91440" cy="182880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4984" y="130759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DeepSeek 模式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4984" y="1709928"/>
            <a:ext cx="3044952" cy="111556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设置 DEEPSEEK_API_KEY 后，默认模型为 deepseek-v4-pro。提示词要求只基于检索上下文回答。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34840" y="1143000"/>
            <a:ext cx="91440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72584" y="130759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抽取式回退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72584" y="1709928"/>
            <a:ext cx="3044952" cy="111556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没有 API key 时，从 Top-k 片段中抽取与问题最相关的句子，保证结果可复现。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92440" y="1143000"/>
            <a:ext cx="91440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0184" y="130759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防幻觉机制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30184" y="1709928"/>
            <a:ext cx="3044952" cy="111556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如果上下文不足，要求模型说明无法确认；答案必须带 [1] 形式来源引用。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14400" y="3794760"/>
            <a:ext cx="10241280" cy="123444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0" y="3813175"/>
            <a:ext cx="9601200" cy="111633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dirty="0">
                <a:solidFill>
                  <a:srgbClr val="17212B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export DEEPSEEK_API_KEY="..."</a:t>
            </a:r>
            <a:endParaRPr lang="en-US" dirty="0"/>
          </a:p>
          <a:p>
            <a:pPr marL="0" indent="0">
              <a:lnSpc>
                <a:spcPct val="150000"/>
              </a:lnSpc>
              <a:buNone/>
            </a:pPr>
            <a:r>
              <a:rPr lang="en-US" dirty="0">
                <a:solidFill>
                  <a:srgbClr val="17212B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export OPENAI_MODEL="deepseek-v4-pro"</a:t>
            </a:r>
            <a:endParaRPr lang="en-US" dirty="0"/>
          </a:p>
          <a:p>
            <a:pPr marL="0" indent="0">
              <a:lnSpc>
                <a:spcPct val="150000"/>
              </a:lnSpc>
              <a:buNone/>
            </a:pPr>
            <a:r>
              <a:rPr lang="en-US" dirty="0">
                <a:solidFill>
                  <a:srgbClr val="17212B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python3 infer.py --question "Redis Sentinel 主要解决什么问题？"</a:t>
            </a:r>
            <a:endParaRPr lang="en-US" dirty="0">
              <a:solidFill>
                <a:srgbClr val="17212B"/>
              </a:solidFill>
              <a:latin typeface="Courier New" panose="02070409020205090404" pitchFamily="34" charset="0"/>
              <a:ea typeface="Courier New" panose="02070409020205090404" pitchFamily="34" charset="-122"/>
              <a:cs typeface="Courier New" panose="02070409020205090404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 评估方案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量化评估：三个维度衡量 RAG 能力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Redis-RAG 垂直领域问答  |  12/16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34440"/>
            <a:ext cx="342900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234440"/>
            <a:ext cx="91440" cy="201168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264" y="139903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Context Relevance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9264" y="1801368"/>
            <a:ext cx="3044952" cy="129844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检索结果是否覆盖标注相关文档。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|retrieved ∩ gold| / |gold|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89120" y="1234440"/>
            <a:ext cx="342900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89120" y="1234440"/>
            <a:ext cx="91440" cy="20116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6864" y="139903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Faithfulness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26864" y="1801368"/>
            <a:ext cx="3044952" cy="129844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答案内容是否被检索上下文支持。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supported_answer_tokens / answer_tokens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46720" y="1234440"/>
            <a:ext cx="342900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234440"/>
            <a:ext cx="91440" cy="2011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84464" y="139903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Answer Relevance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84464" y="1801368"/>
            <a:ext cx="3044952" cy="129844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答案是否覆盖问题所需关键词。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covered_keywords / expected_keywords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" y="3977640"/>
            <a:ext cx="10561320" cy="118872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3977640"/>
            <a:ext cx="91440" cy="1188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0704" y="4142232"/>
            <a:ext cx="1017727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评估集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60450" y="4398645"/>
            <a:ext cx="10177145" cy="62166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 条 Redis 技术问题，覆盖数据结构、持久化、高可用、集群、Lua、缓存风险等。输出保存为 outputs/eval_results.json 与 outputs/eval_results.csv。</a:t>
            </a:r>
            <a:endParaRPr lang="en-US" sz="14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 评估方案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实验结果与解释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Redis-RAG 垂直领域问答  |  13/16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024128"/>
            <a:ext cx="11045952" cy="5230368"/>
          </a:xfrm>
          <a:prstGeom prst="roundRect">
            <a:avLst>
              <a:gd name="adj" fmla="val 69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7" name="Image 0" descr="slides/assets/evaluation_resul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078992"/>
            <a:ext cx="109362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 评估方案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检索策略消融：Vector、BM25、Hybrid 对比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Redis-RAG 垂直领域问答  |  14/16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024128"/>
            <a:ext cx="11045952" cy="5230368"/>
          </a:xfrm>
          <a:prstGeom prst="roundRect">
            <a:avLst>
              <a:gd name="adj" fmla="val 69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7" name="Image 0" descr="slides/assets/retrieval_comparis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078992"/>
            <a:ext cx="109362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 案例与反思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案例分析：AOF 与 RDB 持久化问答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Redis-RAG 垂直领域问答  |  15/16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024128"/>
            <a:ext cx="11045952" cy="5230368"/>
          </a:xfrm>
          <a:prstGeom prst="roundRect">
            <a:avLst>
              <a:gd name="adj" fmla="val 69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7" name="Image 0" descr="slides/assets/inference_result.png"/>
          <p:cNvPicPr>
            <a:picLocks noChangeAspect="1"/>
          </p:cNvPicPr>
          <p:nvPr/>
        </p:nvPicPr>
        <p:blipFill>
          <a:blip r:embed="rId1"/>
          <a:srcRect t="19258" r="1661"/>
          <a:stretch>
            <a:fillRect/>
          </a:stretch>
        </p:blipFill>
        <p:spPr>
          <a:xfrm>
            <a:off x="928370" y="1855470"/>
            <a:ext cx="10238740" cy="415036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1193800" y="1402715"/>
            <a:ext cx="5970905" cy="6235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000"/>
              <a:t>推理运行结果：</a:t>
            </a:r>
            <a:endParaRPr lang="zh-CN" altLang="en-US" sz="2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总结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检索分数、Bad Case 与总结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Redis-RAG 垂直领域问答  |  16/16</a:t>
            </a:r>
            <a:endParaRPr lang="en-US" sz="850" dirty="0"/>
          </a:p>
        </p:txBody>
      </p:sp>
      <p:pic>
        <p:nvPicPr>
          <p:cNvPr id="7" name="Image 0" descr="slides/assets/retrieval_scor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7945" y="1247775"/>
            <a:ext cx="9074150" cy="405574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5468112"/>
            <a:ext cx="3429000" cy="896112"/>
          </a:xfrm>
          <a:prstGeom prst="roundRect">
            <a:avLst>
              <a:gd name="adj" fmla="val 459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85800" y="5468112"/>
            <a:ext cx="91440" cy="89611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3544" y="5632704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Bad Case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23290" y="5927090"/>
            <a:ext cx="3044825" cy="29083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 fontScale="800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Pub/Sub 含“不会持久化”，容易成为弱相关召回。</a:t>
            </a:r>
            <a:endParaRPr lang="en-US" sz="1220" dirty="0"/>
          </a:p>
        </p:txBody>
      </p:sp>
      <p:sp>
        <p:nvSpPr>
          <p:cNvPr id="12" name="Shape 9"/>
          <p:cNvSpPr/>
          <p:nvPr/>
        </p:nvSpPr>
        <p:spPr>
          <a:xfrm>
            <a:off x="4389120" y="5468112"/>
            <a:ext cx="3429000" cy="896112"/>
          </a:xfrm>
          <a:prstGeom prst="roundRect">
            <a:avLst>
              <a:gd name="adj" fmla="val 459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89120" y="5468112"/>
            <a:ext cx="91440" cy="89611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626864" y="5632704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改进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626610" y="5960745"/>
            <a:ext cx="3044825" cy="2571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 fontScale="900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Query Rewriting + Hybrid Retrieval + Rerank。</a:t>
            </a:r>
            <a:endParaRPr lang="en-US" sz="1220" dirty="0"/>
          </a:p>
        </p:txBody>
      </p:sp>
      <p:sp>
        <p:nvSpPr>
          <p:cNvPr id="16" name="Shape 13"/>
          <p:cNvSpPr/>
          <p:nvPr/>
        </p:nvSpPr>
        <p:spPr>
          <a:xfrm>
            <a:off x="8092440" y="5468112"/>
            <a:ext cx="3429000" cy="896112"/>
          </a:xfrm>
          <a:prstGeom prst="roundRect">
            <a:avLst>
              <a:gd name="adj" fmla="val 459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92440" y="5468112"/>
            <a:ext cx="91440" cy="89611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30184" y="5632704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扩展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8329930" y="5961380"/>
            <a:ext cx="3044825" cy="3333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 fontScale="800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243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BGE/FAISS 可选适配、20 条评估集、消融对比、citation checking。</a:t>
            </a:r>
            <a:endParaRPr lang="en-US" sz="12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0</ns0:TotalTime>
  <ns0:Words>3603</ns0:Words>
  <ns0:Application>WPS 文字</ns0:Application>
  <ns0:PresentationFormat>On-screen Show (16:9)</ns0:PresentationFormat>
  <ns0:Paragraphs>316</ns0:Paragraphs>
  <ns0:Slides>16</ns0:Slides>
  <ns0:Notes>17</ns0:Notes>
  <ns0:HiddenSlides>16</ns0:HiddenSlides>
  <ns0:MMClips>0</ns0:MMClips>
  <ns0:ScaleCrop>false</ns0:ScaleCrop>
  <ns0:HeadingPairs>
    <ns1:vector size="6" baseType="variant">
      <ns1:variant>
        <ns1:lpstr>已用的字体</ns1:lpstr>
      </ns1:variant>
      <ns1:variant>
        <ns1:i4>17</ns1:i4>
      </ns1:variant>
      <ns1:variant>
        <ns1:lpstr>主题</ns1:lpstr>
      </ns1:variant>
      <ns1:variant>
        <ns1:i4>1</ns1:i4>
      </ns1:variant>
      <ns1:variant>
        <ns1:lpstr>幻灯片标题</ns1:lpstr>
      </ns1:variant>
      <ns1:variant>
        <ns1:i4>16</ns1:i4>
      </ns1:variant>
    </ns1:vector>
  </ns0:HeadingPairs>
  <ns0:TitlesOfParts>
    <ns1:vector size="34" baseType="lpstr">
      <ns1:lpstr>Arial</ns1:lpstr>
      <ns1:lpstr>宋体</ns1:lpstr>
      <ns1:lpstr>Wingdings</ns1:lpstr>
      <ns1:lpstr>微软雅黑</ns1:lpstr>
      <ns1:lpstr>汉仪旗黑</ns1:lpstr>
      <ns1:lpstr>微软雅黑</ns1:lpstr>
      <ns1:lpstr>微软雅黑</ns1:lpstr>
      <ns1:lpstr>Courier New</ns1:lpstr>
      <ns1:lpstr>Courier New</ns1:lpstr>
      <ns1:lpstr>Courier New</ns1:lpstr>
      <ns1:lpstr>宋体</ns1:lpstr>
      <ns1:lpstr>Arial Unicode MS</ns1:lpstr>
      <ns1:lpstr>Calibri</ns1:lpstr>
      <ns1:lpstr>Helvetica Neue</ns1:lpstr>
      <ns1:lpstr>汉仪书宋二KW</ns1:lpstr>
      <ns1:lpstr>等线</ns1:lpstr>
      <ns1:lpstr>汉仪中等线KW</ns1:lpstr>
      <ns1:lpstr>Office Theme</ns1:lpstr>
      <ns1:lpstr>PowerPoint 演示文稿</ns1:lpstr>
      <ns1:lpstr>PowerPoint 演示文稿</ns1:lpstr>
      <ns1:lpstr>PowerPoint 演示文稿</ns1:lpstr>
      <ns1:lpstr>PowerPoint 演示文稿</ns1:lpstr>
      <ns1:lpstr>PowerPoint 演示文稿</ns1:lpstr>
      <ns1:lpstr>PowerPoint 演示文稿</ns1:lpstr>
      <ns1:lpstr>PowerPoint 演示文稿</ns1:lpstr>
      <ns1:lpstr>PowerPoint 演示文稿</ns1:lpstr>
      <ns1:lpstr>PowerPoint 演示文稿</ns1:lpstr>
      <ns1:lpstr>PowerPoint 演示文稿</ns1:lpstr>
      <ns1:lpstr>PowerPoint 演示文稿</ns1:lpstr>
      <ns1:lpstr>PowerPoint 演示文稿</ns1:lpstr>
      <ns1:lpstr>PowerPoint 演示文稿</ns1:lpstr>
      <ns1:lpstr>PowerPoint 演示文稿</ns1:lpstr>
      <ns1:lpstr>PowerPoint 演示文稿</ns1:lpstr>
      <ns1:lpstr>PowerPoint 演示文稿</ns1:lpstr>
    </ns1:vector>
  </ns0:TitlesOfParts>
  <ns0:Company>Coursework</ns0:Company>
  <ns0:LinksUpToDate>false</ns0:LinksUpToDate>
  <ns0:SharedDoc>false</ns0:SharedDoc>
  <ns0:HyperlinksChanged>false</ns0:HyperlinksChanged>
  <ns0:AppVersion>14.0000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Redis-RAG 垂直领域深度问答系统</dc:title>
  <dc:creator>Redis RAG Coursework</dc:creator>
  <dc:subject>基于 RAG 的 Redis 垂直领域深度问答系统构建</dc:subject>
  <cp:lastModifiedBy>5555</cp:lastModifiedBy>
  <cp:revision>2</cp:revision>
  <dcterms:created xsi:type="dcterms:W3CDTF">2026-06-17T00:59:09Z</dcterms:created>
  <dcterms:modified xsi:type="dcterms:W3CDTF">2026-06-17T00:59:09Z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2052-12.1.25205.25205</vt:lpwstr>
  </property>
  <property fmtid="{D5CDD505-2E9C-101B-9397-08002B2CF9AE}" pid="3" name="ICV">
    <vt:lpwstr>095063823ED73B165DF1316A0153297B_42</vt:lpwstr>
  </property>
</Properties>
</file>