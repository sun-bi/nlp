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页：封面
页面内容：
Redis-RAG：基于 RAG 的 Redis 垂直领域深度问答系统
关键词：私有知识库、混合检索、DeepSeek 生成、三维量化评估
交付物：代码仓库、README、依赖文件、一键推理、报告、PPT、讲稿
讲稿：
这一页是汇报封面。我的作业选题是 Redis 垂直领域问答系统。核心思路是把 Redis 官方文档和清洗后的技术语料构造成私有知识库，然后通过 RAG 的方式进行检索增强生成。系统不仅包含一键推理脚本，也包含索引构建、量化评估、报告和 PPT。后面我会按照数据、检索、生成、评估和案例分析的顺序展开。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页：作业要求与本项目交付
页面内容：
本项目交付完整代码仓库
核心 RAG 模块包括知识库、Chunking、Embedding、向量库、混合检索和生成
展示材料包括报告、PPT 和逐页讲稿
讲稿：
这一页说明作业要求和项目交付之间的对应关系。代码仓库里有 README、requirements 和 infer.py，满足一键运行要求。RAG 核心部分包括 Redis 私有知识库、文档分块、embedding、本地向量库、Query Rewriting 和混合检索。展示材料方面，我补充了论文式报告、PDF、15页PPT和逐页讲稿，所以这个项目既可以运行，也可以完整展示。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页：为什么选 Redis 作为垂直领域
页面内容：
Redis 知识边界清晰
Redis 问答包含大量命令名和缩写
官方文档可追溯，适合做引用和忠实度评估
技术文档 RAG 的难点包括术语匹配、概念混淆和答案忠实度
讲稿：
我选择 Redis 是因为它很适合作为垂直领域。第一，Redis 的知识边界清楚，主题从数据结构到持久化和集群都很明确。第二，Redis 问答里有很多精确术语，比如 AOF、RDB、TTL 和 WATCH，这些词非常考验检索系统。第三，官方文档有稳定 URL，可以作为答案引用来源。这个选题能很好地展示 RAG 的核心价值：把答案约束到可追溯的文档上下文中。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页：私有知识库构建流程
页面内容：
流程：官方文档、页面抓取、正文清洗、JSONL 语料、索引构建、问答系统
每条文档包含 doc_id、title、url、text
知识主题覆盖 Redis 数据结构、TTL、持久化、高可用、集群和缓存风险
讲稿：
这一页展示私有知识库构建流程。数据可以来自 Redis 官方文档，经过页面抓取和正文清洗后，保存为 JSONL。每条记录都包含 doc_id、title、url 和 text。doc_id 用于评估，url 用于追溯来源。为了保证作业能稳定运行，我保留了一份内置清洗语料，同时也提供脚本重新抓取官方文档。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页：知识库主题覆盖
页面内容：
基础数据结构：String、Hash、List、Stream、Sorted Set
生命周期：EXPIRE、TTL、PERSIST
可靠性：RDB、AOF、appendfsync
高可用与扩展：Replication、Sentinel、Cluster
编程与消息：事务、Lua、Pub/Sub、Stream
缓存工程：缓存穿透、击穿和雪崩
讲稿：
这一页说明知识库覆盖面。Redis 不是只收集几个命令，而是覆盖了数据结构、生命周期、可靠性、高可用、编程能力和缓存工程。这样设计的好处是评估问题可以比较全面，比如既能问 AOF 和 RDB，也能问 Stream 和 Pub/Sub，或者问缓存击穿怎么缓解。覆盖原则是每个问题都应该能从知识库中找到依据。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页：Chunking：让检索单元既可命中又可阅读
页面内容：
Redis-aware tokenizer 保留命令名、缩写和中文领域词
默认 chunk_size=320，overlap=40
每个 chunk 保留来源元数据
AOF/RDB 问题需要保留持久化、persistence、RDB、AOF、snapshot 等关键 token
讲稿：
这一页解释 Chunking。技术文档分块不能只按普通句子切，因为 Redis 命令名非常关键。我实现了 Redis-aware tokenizer，保留命令名、缩写和中文领域词。默认分块大小是 320，重叠是 40。这样长文档可以切成可检索片段，同时相邻片段之间不会完全断开。每个 chunk 都有来源元数据，所以最后答案可以回到原文档。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页：Embedding 与本地向量数据库
页面内容：
默认使用 HashingEmbeddingModel，维度 256
向量库保存 chunk 和 vector，文件是 data/index/vectors.jsonl
优点是可复现、无需下载模型、便于解释
后续可升级为 BGE、E5、SentenceTransformer、FAISS 或 Chroma
讲稿：
这一页说明 embedding 和向量库。为了保证作业在没有 GPU、没有外部模型下载的环境中也能跑，我默认使用 hashing embedding。它不如 BGE 这类模型强，但非常适合课程复现。向量库用 JSONL 保存，每条记录包含 chunk 和 vector，结构完全透明。后续如果要做真实系统，可以把这一层替换成 BGE embedding 和 FAISS 或 Chroma。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页：Query Rewriting：连接中文问题与英文术语
页面内容：
持久化扩展为 persistence、RDB、AOF、snapshot
高可用扩展为 replication、sentinel、failover、cluster
过期扩展为 expire、TTL、timeout
队列扩展为 list、stream、consumer group、XREADGROUP
Query Rewriting 主要提升召回率
讲稿：
这一页是高级 RAG 优化的第一部分：Query Rewriting。Redis 官方文档很多术语是英文，但用户可能用中文问，比如“持久化”“高可用”“过期”。如果不扩展，检索可能找不到相关英文术语。所以我维护了一个领域词表，把中文问题扩展成 Redis 常用英文概念。这个策略主要提升召回率。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页：Hybrid Retrieval：BM25 与向量检索互补
页面内容：
融合公式：score = 0.45 × vector + 0.55 × BM25
向量检索擅长语义相似
BM25 擅长 AOF、RDB、TTL、WATCH 等精确术语
Redis 问答需要语义理解和精确术语命中结合
讲稿：
这一页解释混合检索。向量检索能处理语义相似，但是对命令名未必足够敏感。BM25 对精确词非常有效，但不能很好处理同义表达。所以我把二者融合。公式里向量权重是 0.45，BM25 权重是 0.55，因为 Redis 问答中命令名非常关键。这个策略比单纯向量检索更适合 Redis 技术文档。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页：端到端系统架构
页面内容：
文档 JSONL 经过 Chunking 后进入 Embedding 和 BM25
用户问题经过 Query Rewriting 后进入 Hybrid Retriever
Top-k 上下文传入 DeepSeek 或抽取式生成器
输出带引用答案和检索分数
讲稿：
这一页展示端到端架构。左边是文档处理和索引构建，文档先变成 chunk，再进入 embedding 和 BM25。右边是在线问答流程，用户问题先经过 Query Rewriting，然后由 Hybrid Retriever 找到 Top-k 上下文，最后传给 DeepSeek 或抽取式生成器。系统还会输出检索分数，便于分析为什么选中某个文档。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页：生成模块：DeepSeek 优先，离线可回退
页面内容：
设置 DEEPSEEK_API_KEY 后默认使用 deepseek-v4-pro
没有 API key 时使用抽取式生成器
提示词要求只能基于上下文回答，并带来源引用
API key 不写入仓库
讲稿：
这一页说明生成模块。项目支持 DeepSeek，只要设置 DEEPSEEK_API_KEY，默认模型就是 deepseek-v4-pro。同时我保留了抽取式回退，保证没有 API key 也能运行。为了降低幻觉，系统提示要求模型只能依据检索上下文回答，并带引用。如果上下文不足，就要说明无法确认。这里也强调，API key 不会写入仓库，只通过环境变量传入。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页：量化评估：三个维度衡量 RAG 能力
页面内容：
Context Relevance 衡量检索上下文是否相关
Faithfulness 衡量答案是否忠实于上下文
Answer Relevance 衡量答案是否回答问题
评估集包含 10 条 Redis 技术问题
讲稿：
这一页介绍评估方案。Context Relevance 主要评价检索是否找到了相关文档。Faithfulness 评价答案是否被上下文支持，也就是是否有幻觉风险。Answer Relevance 评价答案是否覆盖问题的关键点。评估集包含 10 条 Redis 技术问题，输出结果会保存成 JSON 和 CSV，方便报告引用。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页：实验结果与解释
页面内容：
Context Relevance = 1.0000
Faithfulness = 0.8116
Answer Relevance = 0.8750
检索效果较稳，答案忠实度较好，部分关键词覆盖仍可提升
讲稿：
这一页展示实验结果。Context Relevance 是 1.0000，说明在当前评估集里，检索能覆盖相关文档。Faithfulness 是 0.8116，说明答案大多数内容都能被上下文支持。Answer Relevance 是 0.8750，说明答案基本覆盖问题要点，但还有提升空间。主要问题是抽取式生成有时表达比较硬，可能没有覆盖所有期望关键词。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 页：案例分析：AOF 与 RDB 持久化问答
页面内容：
问题是 Redis 的 AOF 和 RDB 持久化有什么区别
系统命中文档 redis:persistence
答案包含 RDB 快照、AOF 追加日志、备份恢复和数据安全性
命中原因是 Query Rewriting 和 BM25 精确术语匹配
讲稿：
这一页用 AOF 和 RDB 问题做案例。系统最终命中了 redis:persistence 文档，combined_score 是 1.0000。答案能解释 RDB 是快照，适合备份和快速恢复；AOF 是追加日志，通常数据安全性更好。这个案例能说明 Query Rewriting 和 BM25 的价值：中文问题会扩展到 persistence、snapshot 和 append only file，同时 AOF 和 RDB 被精确命中。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15 页：Bad Case、改进方向与总结
页面内容：
Bad Case：AOF/RDB 问题早期召回 Pub/Sub 弱相关文档
已做改进：Query Rewriting、混合检索、上下文过滤
后续优化：BGE embedding、reranker、更大评估集、citation checking
复现实验命令：infer.py 和 evaluate.py
讲稿：
最后一页总结问题和改进。一个典型 bad case 是 AOF/RDB 问题早期会召回 Pub/Sub，因为它也出现了持久化相关词。为了解决这个问题，我加入了 Query Rewriting、混合检索和生成阶段上下文过滤。后续可以进一步替换 BGE embedding、增加 reranker、扩大评估集，并对 LLM 输出做引用一致性检查。总体来说，这个项目完成了从知识库到检索、生成、评估和展示的完整闭环。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0"/>
            <a:ext cx="3867912" cy="6858000"/>
          </a:xfrm>
          <a:prstGeom prst="rect">
            <a:avLst/>
          </a:prstGeom>
          <a:solidFill>
            <a:srgbClr val="8A1C14">
              <a:alpha val="90000"/>
            </a:srgbClr>
          </a:solidFill>
          <a:ln w="12700">
            <a:solidFill>
              <a:srgbClr val="8A1C1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07899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41248" y="190195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RAG 的垂直领域深度问答系统构建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DE7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私有知识库 · 混合检索 · DeepSeek 生成 · 三维量化评估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336499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课程作业完整交付：代码仓库 / README / requirements / infer.py / 报告 / PPT / 逐页讲稿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006840" y="1417320"/>
            <a:ext cx="2148840" cy="2148840"/>
          </a:xfrm>
          <a:prstGeom prst="roundRect">
            <a:avLst>
              <a:gd name="adj" fmla="val 3404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81160" y="192024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308592" y="2578608"/>
            <a:ext cx="1517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System</a:t>
            </a:r>
            <a:endParaRPr lang="en-US" sz="1300" dirty="0"/>
          </a:p>
        </p:txBody>
      </p:sp>
      <p:pic>
        <p:nvPicPr>
          <p:cNvPr id="11" name="Image 0" descr="slides/assets/hero_redis_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3794760"/>
            <a:ext cx="3749040" cy="2103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2026.06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任务映射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作业要求与本项目交付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2/15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85800" y="1143000"/>
            <a:ext cx="10835640" cy="566928"/>
          </a:xfrm>
          <a:prstGeom prst="roundRect">
            <a:avLst>
              <a:gd name="adj" fmla="val 6452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252728"/>
            <a:ext cx="10469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目标：不是只演示概念，而是交付可运行、可解释、可评估的 RAG 仓库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205740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057400"/>
            <a:ext cx="91440" cy="18745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222199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代码仓库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23544" y="262432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requirements.txt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infer.py 一键推理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build_index.py / evaluate.py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434840" y="205740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2057400"/>
            <a:ext cx="91440" cy="1874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22199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核心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72584" y="262432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私有知识库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Chunking + Embedding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本地向量库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 Rewriting + Hybrid Retrieval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183880" y="205740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2057400"/>
            <a:ext cx="91440" cy="1874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21624" y="222199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展示材料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21624" y="262432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论文式报告 MD/PDF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页汇报 PPT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speaker notes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逐页讲稿 Markdown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60120" y="461772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知识库、检索、生成、评估四个环节均可单独运行和检查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API key 时可复现；配置 DeepSeek 后可调用 deepseek-v4-pro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评估输出保存为 JSON 和 CSV，方便报告引用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选题动机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为什么选 Redis 作为垂直领域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3/15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23444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边界清晰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9264" y="180136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文档围绕数据结构、命令、持久化、高可用、集群和缓存工程展开，知识范围明确，适合构建私有知识库。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43891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23444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术语密集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180136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AOF、RDB、TTL、XREADGROUP、WATCH、EXEC 等精确术语决定答案质量，适合展示检索策略差异。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0467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23444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可追溯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84464" y="180136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官方文档页面稳定，每条知识记录保留 URL，答案可带来源引用，便于分析 Faithfulness。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777240" y="3730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技术文档 RAG 的三个难点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42519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中文问题与英文官方术语存在表达差异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相似概念容易误召回，例如 Pub/Sub 与 Stream、RDB 与 AOF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答案必须忠实于上下文，不能凭模型记忆补充未检索到的内容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数据构建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私有知识库构建流程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4/15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1783080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2588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官方文档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60604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7180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4952" y="1325880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页面抓取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8056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4632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EAF2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1325880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清洗正文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5508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234440"/>
            <a:ext cx="1554480" cy="658368"/>
          </a:xfrm>
          <a:prstGeom prst="roundRect">
            <a:avLst>
              <a:gd name="adj" fmla="val 4861"/>
            </a:avLst>
          </a:prstGeom>
          <a:solidFill>
            <a:srgbClr val="E9F8F4"/>
          </a:solidFill>
          <a:ln w="1524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93992" y="1325880"/>
            <a:ext cx="14081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JSONL 语料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36676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73252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05672" y="1325880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索引构建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024128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607040" y="1234440"/>
            <a:ext cx="1143000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80192" y="1325880"/>
            <a:ext cx="9966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问答系统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77240" y="2606040"/>
            <a:ext cx="51663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2606040"/>
            <a:ext cx="91440" cy="201168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4984" y="2770632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文档字段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14984" y="3172968"/>
            <a:ext cx="47823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doc_id：评估和引用使用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title：展示标题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url：官方来源追溯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text：清洗后的正文内容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09360" y="2606040"/>
            <a:ext cx="51663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2606040"/>
            <a:ext cx="91440" cy="2011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47104" y="2770632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覆盖主题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47104" y="3172968"/>
            <a:ext cx="47823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数据结构、TTL、内存淘汰、RDB/AOF、Replication、Sentinel、Cluster、事务、Lua、Pub/Sub、缓存风险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25780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关键取舍：内置语料保证离线可复现，采集脚本体现真实私有知识库构建流程。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数据构建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知识库主题覆盖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5/15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188720"/>
            <a:ext cx="4983480" cy="1060704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188720"/>
            <a:ext cx="91440" cy="1060704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53312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基础数据结构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984" y="1755648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 / Hash / List / Stream / Sorted Set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309360" y="1188720"/>
            <a:ext cx="4983480" cy="1060704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188720"/>
            <a:ext cx="91440" cy="106070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47104" y="1353312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生命周期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47104" y="1755648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EXPIRE / TTL / PERSIST / 惰性删除 / 周期删除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777240" y="2606040"/>
            <a:ext cx="4983480" cy="1060704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606040"/>
            <a:ext cx="91440" cy="1060704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14984" y="2770632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可靠性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14984" y="3172968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RDB / AOF / appendfsync / 备份恢复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4983480" cy="1060704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09360" y="2606040"/>
            <a:ext cx="91440" cy="106070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04" y="2770632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高可用与扩展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47104" y="3172968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Replication / Sentinel / Cluster / hash slot</a:t>
            </a:r>
            <a:endParaRPr lang="en-US" sz="1420" dirty="0"/>
          </a:p>
        </p:txBody>
      </p:sp>
      <p:sp>
        <p:nvSpPr>
          <p:cNvPr id="22" name="Shape 20"/>
          <p:cNvSpPr/>
          <p:nvPr/>
        </p:nvSpPr>
        <p:spPr>
          <a:xfrm>
            <a:off x="777240" y="4023360"/>
            <a:ext cx="4983480" cy="1060704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023360"/>
            <a:ext cx="91440" cy="1060704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4984" y="4187952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编程与消息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14984" y="4590288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 / EXEC / WATCH / Lua / Pub/Sub / Stream</a:t>
            </a:r>
            <a:endParaRPr lang="en-US" sz="1420" dirty="0"/>
          </a:p>
        </p:txBody>
      </p:sp>
      <p:sp>
        <p:nvSpPr>
          <p:cNvPr id="26" name="Shape 24"/>
          <p:cNvSpPr/>
          <p:nvPr/>
        </p:nvSpPr>
        <p:spPr>
          <a:xfrm>
            <a:off x="6309360" y="4023360"/>
            <a:ext cx="4983480" cy="1060704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09360" y="4023360"/>
            <a:ext cx="91440" cy="106070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47104" y="4187952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缓存工程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47104" y="4590288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缓存穿透 / 缓存击穿 / 缓存雪崩 / 随机 TTL</a:t>
            </a:r>
            <a:endParaRPr lang="en-US" sz="1420" dirty="0"/>
          </a:p>
        </p:txBody>
      </p:sp>
      <p:sp>
        <p:nvSpPr>
          <p:cNvPr id="30" name="Shape 28"/>
          <p:cNvSpPr/>
          <p:nvPr/>
        </p:nvSpPr>
        <p:spPr>
          <a:xfrm>
            <a:off x="868680" y="5577840"/>
            <a:ext cx="10424160" cy="475488"/>
          </a:xfrm>
          <a:prstGeom prst="roundRect">
            <a:avLst>
              <a:gd name="adj" fmla="val 7692"/>
            </a:avLst>
          </a:prstGeom>
          <a:solidFill>
            <a:srgbClr val="FDE8E5"/>
          </a:solidFill>
          <a:ln w="12700">
            <a:solidFill>
              <a:srgbClr val="F8C5B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280" y="5715000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80" b="1" dirty="0">
                <a:solidFill>
                  <a:srgbClr val="8A1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覆盖原则：问题要能从知识库中找到依据，答案要能回溯到文档，而不是依赖模型记忆。</a:t>
            </a:r>
            <a:endParaRPr lang="en-US" sz="1480" dirty="0"/>
          </a:p>
        </p:txBody>
      </p:sp>
      <p:sp>
        <p:nvSpPr>
          <p:cNvPr id="32" name="Shape 30"/>
          <p:cNvSpPr/>
          <p:nvPr/>
        </p:nvSpPr>
        <p:spPr>
          <a:xfrm>
            <a:off x="658368" y="1060704"/>
            <a:ext cx="10927080" cy="5321808"/>
          </a:xfrm>
          <a:prstGeom prst="roundRect">
            <a:avLst>
              <a:gd name="adj" fmla="val 68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3" name="Image 0" descr="slides/assets/knowledge_base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115568"/>
            <a:ext cx="10817352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文档处理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Chunking：让检索单元既可命中又可阅读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6/15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14300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Redis-aware tokenizer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9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AOF、RDB、TTL、EXPIRE、XREADGROUP、WATCH 等命令名和缩写，也识别“持久化”“消费者组”等中文领域词。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14300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25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重叠分块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725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chunk_size=320，overlap=40。长文档切分后相邻 chunk 保留上下文连接，避免答案依据被切断。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0924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2440" y="114300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可解释元数据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301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chunk 保存 chunk_id、doc_id、source_title、url、start_token、end_token，便于引用和调试。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822960" y="37490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示例：AOF/RDB 问题的关键 token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68680" y="4251960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43616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2148840" y="425196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31720" y="436168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persistence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703320" y="425196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86200" y="43616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754880" y="425196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43616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AOF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806440" y="425196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43616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223760" y="4251960"/>
            <a:ext cx="1920240" cy="457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0" y="43616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only file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14400" y="5166360"/>
            <a:ext cx="9966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如果这些 token 被切掉或弱化，检索会更容易偏到其他包含“持久化”字样的文档。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向量索引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与本地向量数据库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7/15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3520440" cy="2057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234440"/>
            <a:ext cx="91440" cy="20574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99032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默认选择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984" y="1801368"/>
            <a:ext cx="313639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HashingEmbeddingModel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维度：256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优点：无需下载模型、无需 GPU、结果稳定、适合作业复现。</a:t>
            </a:r>
            <a:endParaRPr lang="en-US" sz="1440" dirty="0"/>
          </a:p>
        </p:txBody>
      </p:sp>
      <p:sp>
        <p:nvSpPr>
          <p:cNvPr id="10" name="Shape 8"/>
          <p:cNvSpPr/>
          <p:nvPr/>
        </p:nvSpPr>
        <p:spPr>
          <a:xfrm>
            <a:off x="4526280" y="1234440"/>
            <a:ext cx="3520440" cy="2057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234440"/>
            <a:ext cx="91440" cy="20574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64024" y="1399032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向量库设计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64024" y="1801368"/>
            <a:ext cx="313639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LocalVectorStore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chunk + vector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文件：data/index/vectors.jsonl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结构透明，方便检查。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8275320" y="1234440"/>
            <a:ext cx="2880360" cy="2057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234440"/>
            <a:ext cx="91440" cy="2057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13064" y="1399032"/>
            <a:ext cx="2496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可升级方向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13064" y="1801368"/>
            <a:ext cx="249631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BGE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E5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SentenceTransformer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FAISS / Chroma</a:t>
            </a:r>
            <a:endParaRPr lang="en-US" sz="1440" dirty="0"/>
          </a:p>
        </p:txBody>
      </p:sp>
      <p:sp>
        <p:nvSpPr>
          <p:cNvPr id="18" name="Shape 16"/>
          <p:cNvSpPr/>
          <p:nvPr/>
        </p:nvSpPr>
        <p:spPr>
          <a:xfrm>
            <a:off x="914400" y="3977640"/>
            <a:ext cx="1033272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431596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"chunk": { "doc_id": "redis:persistence", "title": "...", "text": "..."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"vector": [0.0, 0.12, -0.04, ...]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5596128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课程取舍：默认方案重在可复现和可解释；真实部署时可替换为神经 embedding + 专业向量库。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高级 RAG 优化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 Rewriting：连接中文问题与英文术语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8/15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143000"/>
            <a:ext cx="3485236" cy="586740"/>
          </a:xfrm>
          <a:prstGeom prst="rect">
            <a:avLst/>
          </a:prstGeom>
          <a:solidFill>
            <a:srgbClr val="FDE8E5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8196" y="1143000"/>
            <a:ext cx="7076084" cy="586740"/>
          </a:xfrm>
          <a:prstGeom prst="rect">
            <a:avLst/>
          </a:prstGeom>
          <a:solidFill>
            <a:srgbClr val="FDE8E5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22529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用户表达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17924" y="122529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扩展后的检索术语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72974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8196" y="172974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81203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4417924" y="181203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persistence, RDB, AOF, snapshot, append only file, durability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822960" y="231648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8196" y="231648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239877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高可用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4417924" y="239877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replication, sentinel, failover, cluster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290322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08196" y="290322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298551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过期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417924" y="298551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expire, TTL, timeout, key expiration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822960" y="348996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08196" y="348996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357225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4417924" y="357225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list, stream, consumer group, XREADGROUP</a:t>
            </a:r>
            <a:endParaRPr lang="en-US" sz="1220" dirty="0"/>
          </a:p>
        </p:txBody>
      </p:sp>
      <p:sp>
        <p:nvSpPr>
          <p:cNvPr id="26" name="Shape 24"/>
          <p:cNvSpPr/>
          <p:nvPr/>
        </p:nvSpPr>
        <p:spPr>
          <a:xfrm>
            <a:off x="822960" y="407670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08196" y="407670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4158996"/>
            <a:ext cx="3302356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Lua</a:t>
            </a:r>
            <a:endParaRPr lang="en-US" sz="1220" dirty="0"/>
          </a:p>
        </p:txBody>
      </p:sp>
      <p:sp>
        <p:nvSpPr>
          <p:cNvPr id="29" name="Text 27"/>
          <p:cNvSpPr/>
          <p:nvPr/>
        </p:nvSpPr>
        <p:spPr>
          <a:xfrm>
            <a:off x="4417924" y="4158996"/>
            <a:ext cx="6893204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eval, script, scripting, atomic</a:t>
            </a:r>
            <a:endParaRPr lang="en-US" sz="1220" dirty="0"/>
          </a:p>
        </p:txBody>
      </p:sp>
      <p:sp>
        <p:nvSpPr>
          <p:cNvPr id="30" name="Shape 28"/>
          <p:cNvSpPr/>
          <p:nvPr/>
        </p:nvSpPr>
        <p:spPr>
          <a:xfrm>
            <a:off x="960120" y="5166360"/>
            <a:ext cx="10241280" cy="566928"/>
          </a:xfrm>
          <a:prstGeom prst="roundRect">
            <a:avLst>
              <a:gd name="adj" fmla="val 6452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43000" y="5276088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作用：提升召回率，减少“中文提问找不到英文文档术语”的问题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高级 RAG 优化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Hybrid Retrieval：BM25 与向量检索互补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9/15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097280"/>
            <a:ext cx="49377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4081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0.45 × vector + 0.55 × BM25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468880"/>
            <a:ext cx="91440" cy="1874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263347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向量检索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0704" y="303580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擅长语义相似：例如“高可用”与“failover”之间不完全字面匹配，但语义相关。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443484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2468880"/>
            <a:ext cx="91440" cy="18745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63347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72584" y="303580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擅长精确匹配：AOF、RDB、TTL、WATCH 等命令名必须被强命中。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804672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0" y="2468880"/>
            <a:ext cx="91440" cy="1874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63347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融合排序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84464" y="3035808"/>
            <a:ext cx="295351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先归一化两个分数，再线性加权。Redis 场景中 BM25 权重略高。</a:t>
            </a:r>
            <a:endParaRPr lang="en-US" sz="1430" dirty="0"/>
          </a:p>
        </p:txBody>
      </p:sp>
      <p:sp>
        <p:nvSpPr>
          <p:cNvPr id="20" name="Text 18"/>
          <p:cNvSpPr/>
          <p:nvPr/>
        </p:nvSpPr>
        <p:spPr>
          <a:xfrm>
            <a:off x="868680" y="5212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核心判断：Redis 问答不是纯语义任务，而是“语义理解 + 精确术语命中”的组合任务。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系统流程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端到端系统架构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10/15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1234440" cy="713232"/>
          </a:xfrm>
          <a:prstGeom prst="roundRect">
            <a:avLst>
              <a:gd name="adj" fmla="val 4487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3258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783080" y="1591056"/>
            <a:ext cx="32004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03120" y="1234440"/>
            <a:ext cx="1325880" cy="713232"/>
          </a:xfrm>
          <a:prstGeom prst="roundRect">
            <a:avLst>
              <a:gd name="adj" fmla="val 4487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76272" y="1325880"/>
            <a:ext cx="1179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Chunking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74720" y="1591056"/>
            <a:ext cx="320040" cy="-420624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74720" y="1591056"/>
            <a:ext cx="320040" cy="402336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94760" y="804672"/>
            <a:ext cx="1325880" cy="658368"/>
          </a:xfrm>
          <a:prstGeom prst="roundRect">
            <a:avLst>
              <a:gd name="adj" fmla="val 4861"/>
            </a:avLst>
          </a:prstGeom>
          <a:solidFill>
            <a:srgbClr val="EAF2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67912" y="896112"/>
            <a:ext cx="11795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94760" y="1645920"/>
            <a:ext cx="1325880" cy="658368"/>
          </a:xfrm>
          <a:prstGeom prst="roundRect">
            <a:avLst>
              <a:gd name="adj" fmla="val 4861"/>
            </a:avLst>
          </a:prstGeom>
          <a:solidFill>
            <a:srgbClr val="E9F8F4"/>
          </a:solidFill>
          <a:ln w="1524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67912" y="1737360"/>
            <a:ext cx="11795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166360" y="1133856"/>
            <a:ext cx="502920" cy="347472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66360" y="1975104"/>
            <a:ext cx="502920" cy="-237744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69280" y="1234440"/>
            <a:ext cx="1508760" cy="713232"/>
          </a:xfrm>
          <a:prstGeom prst="roundRect">
            <a:avLst>
              <a:gd name="adj" fmla="val 4487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42432" y="132588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Hybrid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Retriever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223760" y="1591056"/>
            <a:ext cx="32004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543800" y="1234440"/>
            <a:ext cx="1325880" cy="713232"/>
          </a:xfrm>
          <a:prstGeom prst="roundRect">
            <a:avLst>
              <a:gd name="adj" fmla="val 4487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16952" y="1325880"/>
            <a:ext cx="1179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Top-k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915400" y="1591056"/>
            <a:ext cx="32004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235440" y="1234440"/>
            <a:ext cx="1508760" cy="713232"/>
          </a:xfrm>
          <a:prstGeom prst="roundRect">
            <a:avLst>
              <a:gd name="adj" fmla="val 4487"/>
            </a:avLst>
          </a:prstGeom>
          <a:solidFill>
            <a:srgbClr val="EAF2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08592" y="132588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/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Fallback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0789920" y="1591056"/>
            <a:ext cx="32004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1109960" y="1234440"/>
            <a:ext cx="822960" cy="713232"/>
          </a:xfrm>
          <a:prstGeom prst="roundRect">
            <a:avLst>
              <a:gd name="adj" fmla="val 4487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83112" y="1325880"/>
            <a:ext cx="676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带引用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" y="3154680"/>
            <a:ext cx="338328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7240" y="3154680"/>
            <a:ext cx="91440" cy="14173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14984" y="3319272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4984" y="3721608"/>
            <a:ext cx="29992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retrieved_contexts，展示 doc_id、title、combined_score、vector_score 和 bm25_score。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4434840" y="3154680"/>
            <a:ext cx="338328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434840" y="3154680"/>
            <a:ext cx="91440" cy="14173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72584" y="3319272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672584" y="3721608"/>
            <a:ext cx="29992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Embedding、向量库、生成模型都以模块封装，后续可替换为 BGE、FAISS、reranker。</a:t>
            </a:r>
            <a:endParaRPr lang="en-US" sz="1380" dirty="0"/>
          </a:p>
        </p:txBody>
      </p:sp>
      <p:sp>
        <p:nvSpPr>
          <p:cNvPr id="38" name="Shape 36"/>
          <p:cNvSpPr/>
          <p:nvPr/>
        </p:nvSpPr>
        <p:spPr>
          <a:xfrm>
            <a:off x="8092440" y="3154680"/>
            <a:ext cx="3383280" cy="14173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092440" y="3154680"/>
            <a:ext cx="9144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30184" y="3319272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330184" y="3721608"/>
            <a:ext cx="29992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API key 自动回退抽取式生成，保证老师本地也能运行完整流程。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566928" y="1042416"/>
            <a:ext cx="11045952" cy="5102352"/>
          </a:xfrm>
          <a:prstGeom prst="roundRect">
            <a:avLst>
              <a:gd name="adj" fmla="val 7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3" name="Image 0" descr="slides/assets/architectur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97280"/>
            <a:ext cx="10936224" cy="49926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生成策略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生成模块：DeepSeek 优先，离线可回退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11/15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14300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模式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49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 DEEPSEEK_API_KEY 后，默认模型为 deepseek-v4-pro。提示词要求只基于检索上下文回答。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14300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25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抽取式回退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725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API key 时，从 Top-k 片段中抽取与问题最相关的句子，保证结果可复现。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0924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2440" y="114300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防幻觉机制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301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如果上下文不足，要求模型说明无法确认；答案必须带 [1] 形式来源引用。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914400" y="3794760"/>
            <a:ext cx="1024128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4096512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DEEPSEEK_API_KEY="..."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OPENAI_MODEL="deepseek-v4-pro"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infer.py --question "Redis Sentinel 主要解决什么问题？"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5440680"/>
            <a:ext cx="9784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8A1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key 不写入仓库；README 只说明环境变量用法。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评估方案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量化评估：三个维度衡量 RAG 能力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12/15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234440"/>
            <a:ext cx="91440" cy="201168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Relevance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9264" y="1801368"/>
            <a:ext cx="304495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检索结果是否覆盖标注相关文档。</a:t>
            </a:r>
            <a:endParaRPr lang="en-US" sz="1420" dirty="0"/>
          </a:p>
          <a:p>
            <a:pPr indent="0" marL="0">
              <a:buNone/>
            </a:pP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|retrieved ∩ gold| / |gold|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43891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234440"/>
            <a:ext cx="91440" cy="2011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Faithfulness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1801368"/>
            <a:ext cx="304495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答案内容是否被检索上下文支持。</a:t>
            </a:r>
            <a:endParaRPr lang="en-US" sz="1420" dirty="0"/>
          </a:p>
          <a:p>
            <a:pPr indent="0" marL="0">
              <a:buNone/>
            </a:pP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supported_answer_tokens / answer_tokens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0467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234440"/>
            <a:ext cx="91440" cy="2011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139903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Answer Relevance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84464" y="1801368"/>
            <a:ext cx="304495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答案是否覆盖问题所需关键词。</a:t>
            </a:r>
            <a:endParaRPr lang="en-US" sz="1420" dirty="0"/>
          </a:p>
          <a:p>
            <a:pPr indent="0" marL="0">
              <a:buNone/>
            </a:pP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covered_keywords / expected_keywords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822960" y="3977640"/>
            <a:ext cx="10561320" cy="118872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77640"/>
            <a:ext cx="91440" cy="1188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704" y="4142232"/>
            <a:ext cx="10177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评估集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60704" y="4544568"/>
            <a:ext cx="10177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 Redis 技术问题，覆盖持久化、过期、Stream/PubSub、Sorted Set、Sentinel、Cluster、事务、Lua、内存淘汰和缓存风险。输出保存为 outputs/eval_results.json 与 outputs/eval_results.csv。</a:t>
            </a:r>
            <a:endParaRPr lang="en-US" sz="14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评估方案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实验结果与解释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13/15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" y="13898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Relevance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3383280" y="1417320"/>
            <a:ext cx="5486400" cy="2377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1417320"/>
            <a:ext cx="5486400" cy="237744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48" y="138074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1.0000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248716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Faithfulness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3383280" y="2514600"/>
            <a:ext cx="5486400" cy="2377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2514600"/>
            <a:ext cx="4452762" cy="2377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70848" y="24780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0.8116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35844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Answer Relevance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3383280" y="3611880"/>
            <a:ext cx="5486400" cy="2377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3611880"/>
            <a:ext cx="4800600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70848" y="357530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0.8750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83880" y="1143000"/>
            <a:ext cx="3154680" cy="12344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83880" y="1143000"/>
            <a:ext cx="91440" cy="123444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21624" y="1307592"/>
            <a:ext cx="2770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检索表现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21624" y="1709928"/>
            <a:ext cx="277063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相关文档覆盖率达到 1.0000，说明混合检索能稳定召回正确文档。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183880" y="2697480"/>
            <a:ext cx="3154680" cy="12344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83880" y="2697480"/>
            <a:ext cx="91440" cy="1234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21624" y="2862072"/>
            <a:ext cx="2770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生成表现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421624" y="3264408"/>
            <a:ext cx="277063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Faithfulness 为 0.8116，答案多数内容可由上下文支持。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183880" y="4251960"/>
            <a:ext cx="3154680" cy="12344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83880" y="4251960"/>
            <a:ext cx="91440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21624" y="4416552"/>
            <a:ext cx="2770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剩余问题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21624" y="4818888"/>
            <a:ext cx="277063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部分关键词未完全覆盖，主要来自抽取式答案表达不够自然。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02920" y="1024128"/>
            <a:ext cx="7132320" cy="4983480"/>
          </a:xfrm>
          <a:prstGeom prst="roundRect">
            <a:avLst>
              <a:gd name="adj" fmla="val 73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0" descr="slides/assets/evaluation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078992"/>
            <a:ext cx="7022592" cy="48737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案例与反思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案例分析：AOF 与 RDB 持久化问答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14/15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10652760" cy="594360"/>
          </a:xfrm>
          <a:prstGeom prst="roundRect">
            <a:avLst>
              <a:gd name="adj" fmla="val 6154"/>
            </a:avLst>
          </a:prstGeom>
          <a:solidFill>
            <a:srgbClr val="FDE8E5"/>
          </a:solidFill>
          <a:ln w="12700">
            <a:solidFill>
              <a:srgbClr val="F8C5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325880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8A1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问题：Redis 的 AOF 和 RDB 持久化有什么区别？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33375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91440" cy="201168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231343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命中文档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0704" y="2715768"/>
            <a:ext cx="29535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redis:persistence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persistence with RDB and AOF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combined_score = 1.0000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34840" y="2148840"/>
            <a:ext cx="33375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2148840"/>
            <a:ext cx="91440" cy="2011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31343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答案要点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72584" y="2715768"/>
            <a:ext cx="29535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RDB 是快照，文件紧凑，适合备份和快速恢复；AOF 是追加日志，记录写命令，数据安全性更好。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2148840"/>
            <a:ext cx="33375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0" y="2148840"/>
            <a:ext cx="91440" cy="2011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313432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为什么能命中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84464" y="2715768"/>
            <a:ext cx="29535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 Rewriting 扩展 persistence、snapshot、append only file；BM25 强命中 AOF/RDB。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498348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这个案例体现：Redis 问答需要同时处理中文表达、英文术语和精确命令名。</a:t>
            </a:r>
            <a:endParaRPr lang="en-US" sz="1620" dirty="0"/>
          </a:p>
        </p:txBody>
      </p:sp>
      <p:sp>
        <p:nvSpPr>
          <p:cNvPr id="21" name="Shape 19"/>
          <p:cNvSpPr/>
          <p:nvPr/>
        </p:nvSpPr>
        <p:spPr>
          <a:xfrm>
            <a:off x="658368" y="1901952"/>
            <a:ext cx="10972800" cy="4370832"/>
          </a:xfrm>
          <a:prstGeom prst="roundRect">
            <a:avLst>
              <a:gd name="adj" fmla="val 83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0" descr="slides/assets/inference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56816"/>
            <a:ext cx="10863072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总结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Bad Case、改进方向与总结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Redis-RAG 垂直领域问答  |  15/15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8580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14300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Bad Case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2354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AOF/RDB 问题早期会召回 Pub/Sub，因为 Pub/Sub 文档中也出现“不会持久化”。说明共现词会造成弱相关上下文污染。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114300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已做改进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686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加入 Query Rewriting、BM25/Vector 融合，以及生成阶段上下文分数过滤，减少弱相关片段进入答案。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924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" dist="50800" dir="270000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2440" y="114300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30759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后续优化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30184" y="1709928"/>
            <a:ext cx="30449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43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 BGE embedding；加入 reranker；扩展评估集；增加 LLM 生成后的 citation checking。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6132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39776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1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复现实验命令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97280" y="4407408"/>
            <a:ext cx="896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infer.py --question "Redis 的 AOF 和 RDB 持久化有什么区别？"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evaluate.py --rebuild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76656" y="3255264"/>
            <a:ext cx="10881360" cy="242316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0" descr="slides/assets/retrieval_sc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310128"/>
            <a:ext cx="10771632" cy="23134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68680" y="577900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1721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总结：本项目完成了 Redis 私有知识库、检索增强生成、DeepSeek 接入、三维评估和完整展示材料。</a:t>
            </a:r>
            <a:endParaRPr lang="en-US" sz="15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Coursework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Redis-RAG 垂直领域深度问答系统</dc:title>
  <dc:subject>基于 RAG 的 Redis 垂直领域深度问答系统构建</dc:subject>
  <dc:creator>Redis RAG Coursework</dc:creator>
  <cp:lastModifiedBy>Redis RAG Coursework</cp:lastModifiedBy>
  <cp:revision>1</cp:revision>
  <dcterms:created xsi:type="dcterms:W3CDTF">2026-06-16T16:49:48Z</dcterms:created>
  <dcterms:modified xsi:type="dcterms:W3CDTF">2026-06-16T16:49:48Z</dcterms:modified>
</cp:coreProperties>
</file>