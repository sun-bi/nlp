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9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3"/>
          </a:solidFill>
          <a:ln w="12700">
            <a:solidFill>
              <a:srgbClr val="1F29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C382D"/>
          </a:solidFill>
          <a:ln w="12700">
            <a:solidFill>
              <a:srgbClr val="DC382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5156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Redis-RAG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31520" y="17373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基于 RAG 的垂直领域深度问答系统构建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77240" y="2743200"/>
            <a:ext cx="7040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知识库：Redis 官方文档与清洗技术语料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优化策略：Query Rewriting + BM25/Vector Hybrid Retrieval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交付：代码仓库、README、一键推理、量化评估、报告、PPT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458200" y="1143000"/>
            <a:ext cx="2514600" cy="2514600"/>
          </a:xfrm>
          <a:prstGeom prst="roundRect">
            <a:avLst>
              <a:gd name="adj" fmla="val 2909"/>
            </a:avLst>
          </a:prstGeom>
          <a:solidFill>
            <a:srgbClr val="DC382D"/>
          </a:solidFill>
          <a:ln w="12700">
            <a:solidFill>
              <a:srgbClr val="DC38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32520" y="182880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8732520" y="251460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Docs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 System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62179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DC382D"/>
          </a:solidFill>
          <a:ln w="12700">
            <a:solidFill>
              <a:srgbClr val="DC38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9144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RAG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作业目标与系统选题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3474720" cy="4206240"/>
          </a:xfrm>
          <a:prstGeom prst="roundRect">
            <a:avLst>
              <a:gd name="adj" fmla="val 131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34440"/>
            <a:ext cx="73152" cy="4206240"/>
          </a:xfrm>
          <a:prstGeom prst="rect">
            <a:avLst/>
          </a:prstGeom>
          <a:solidFill>
            <a:srgbClr val="DC382D"/>
          </a:solidFill>
          <a:ln w="12700">
            <a:solidFill>
              <a:srgbClr val="DC38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399032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为什么选 Redis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41248" y="1764792"/>
            <a:ext cx="3154680" cy="3547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是典型垂直技术领域，包含数据结构、命令、持久化、高可用和缓存风险等主题。问题中常出现 AOF、RDB、TTL、XREADGROUP 等精确术语，适合展示 RAG 检索优化。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89120" y="1234440"/>
            <a:ext cx="3474720" cy="4206240"/>
          </a:xfrm>
          <a:prstGeom prst="roundRect">
            <a:avLst>
              <a:gd name="adj" fmla="val 131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9120" y="1234440"/>
            <a:ext cx="73152" cy="4206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0288" y="1399032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课程要求映射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90288" y="1764792"/>
            <a:ext cx="3154680" cy="3547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私有知识库：Redis 文档语料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Chunking：Redis-aware tokenizer + overlap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Embedding：hashing embedding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向量库：JSONL local vector DB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生成：DeepSeek/OpenAI-compatible + fallback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评估：三维量化指标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38160" y="1234440"/>
            <a:ext cx="3474720" cy="4206240"/>
          </a:xfrm>
          <a:prstGeom prst="roundRect">
            <a:avLst>
              <a:gd name="adj" fmla="val 131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38160" y="1234440"/>
            <a:ext cx="73152" cy="4206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39328" y="1399032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交付物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339328" y="1764792"/>
            <a:ext cx="3154680" cy="3547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README.md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requirements.txt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infer.py 一键推理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build_index.py / evaluate.py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report/redis_rag_report.md + PDF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slides/redis_rag_presentation.pptx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2920" y="6519672"/>
            <a:ext cx="11155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Redis-RAG 作业汇报  |  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DC382D"/>
          </a:solidFill>
          <a:ln w="12700">
            <a:solidFill>
              <a:srgbClr val="DC38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9144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RAG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私有知识库构建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5623560" cy="2834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内置清洗语料：data/raw/redis_seed_docs.jsonl，保证离线可复现</a:t>
            </a:r>
            <a:endParaRPr lang="en-US" sz="1300" dirty="0"/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官方文档采集：scripts/collect_redis_docs.py 抓取 Redis 文档页面</a:t>
            </a:r>
            <a:endParaRPr lang="en-US" sz="1300" dirty="0"/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知识主题覆盖：String、Hash、List、Stream、Sorted Set、TTL、淘汰、RDB/AOF、Replication、Sentinel、Cluster、Lua、Pub/Sub、缓存风险</a:t>
            </a:r>
            <a:endParaRPr lang="en-US" sz="1300" dirty="0"/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每条文档包含 doc_id、title、url、text，便于引用和评估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629400" y="1234440"/>
            <a:ext cx="4754880" cy="3474720"/>
          </a:xfrm>
          <a:prstGeom prst="roundRect">
            <a:avLst>
              <a:gd name="adj" fmla="val 131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03720" y="15087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38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JSONL 示例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903720" y="1938528"/>
            <a:ext cx="4160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"doc_id": "redis:persistence",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"Redis persistence with RDB and AOF",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"url": "https://redis.io/docs/...",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"text": "Redis 提供 RDB 和 AOF 两类持久化机制..." }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903720" y="406908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设计重点：语料必须可追溯、可重建、可离线运行。</a:t>
            </a:r>
            <a:endParaRPr lang="en-US" sz="1220" dirty="0"/>
          </a:p>
        </p:txBody>
      </p:sp>
      <p:sp>
        <p:nvSpPr>
          <p:cNvPr id="10" name="Text 8"/>
          <p:cNvSpPr/>
          <p:nvPr/>
        </p:nvSpPr>
        <p:spPr>
          <a:xfrm>
            <a:off x="502920" y="6519672"/>
            <a:ext cx="11155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Redis-RAG 作业汇报  |  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DC382D"/>
          </a:solidFill>
          <a:ln w="12700">
            <a:solidFill>
              <a:srgbClr val="DC38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9144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RAG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系统架构与数据流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94360" y="1325880"/>
            <a:ext cx="14173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5240">
            <a:solidFill>
              <a:srgbClr val="DC38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" y="1435608"/>
            <a:ext cx="1271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文档</a:t>
            </a:r>
            <a:endParaRPr lang="en-US" sz="1120" dirty="0"/>
          </a:p>
        </p:txBody>
      </p:sp>
      <p:sp>
        <p:nvSpPr>
          <p:cNvPr id="7" name="Shape 5"/>
          <p:cNvSpPr/>
          <p:nvPr/>
        </p:nvSpPr>
        <p:spPr>
          <a:xfrm>
            <a:off x="2423160" y="1325880"/>
            <a:ext cx="150876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5240">
            <a:solidFill>
              <a:srgbClr val="DC38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96312" y="1435608"/>
            <a:ext cx="1362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清洗 JSONL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4343400" y="1325880"/>
            <a:ext cx="155448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5240">
            <a:solidFill>
              <a:srgbClr val="DC38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16552" y="1435608"/>
            <a:ext cx="14081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Chunking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6400800" y="868680"/>
            <a:ext cx="160020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524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3952" y="978408"/>
            <a:ext cx="1453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1120" dirty="0"/>
          </a:p>
        </p:txBody>
      </p:sp>
      <p:sp>
        <p:nvSpPr>
          <p:cNvPr id="13" name="Shape 11"/>
          <p:cNvSpPr/>
          <p:nvPr/>
        </p:nvSpPr>
        <p:spPr>
          <a:xfrm>
            <a:off x="6400800" y="1874520"/>
            <a:ext cx="160020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73952" y="1984248"/>
            <a:ext cx="1453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BM25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8503920" y="1325880"/>
            <a:ext cx="155448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5240">
            <a:solidFill>
              <a:srgbClr val="DC382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77072" y="1435608"/>
            <a:ext cx="14081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Retriever</a:t>
            </a:r>
            <a:endParaRPr lang="en-US" sz="1120" dirty="0"/>
          </a:p>
        </p:txBody>
      </p:sp>
      <p:sp>
        <p:nvSpPr>
          <p:cNvPr id="17" name="Shape 15"/>
          <p:cNvSpPr/>
          <p:nvPr/>
        </p:nvSpPr>
        <p:spPr>
          <a:xfrm>
            <a:off x="10469880" y="1325880"/>
            <a:ext cx="132588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5240">
            <a:solidFill>
              <a:srgbClr val="DC382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543032" y="1435608"/>
            <a:ext cx="11795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答案生成</a:t>
            </a:r>
            <a:endParaRPr lang="en-US" sz="1120" dirty="0"/>
          </a:p>
        </p:txBody>
      </p:sp>
      <p:sp>
        <p:nvSpPr>
          <p:cNvPr id="19" name="Shape 17"/>
          <p:cNvSpPr/>
          <p:nvPr/>
        </p:nvSpPr>
        <p:spPr>
          <a:xfrm>
            <a:off x="2011680" y="1682496"/>
            <a:ext cx="411480" cy="0"/>
          </a:xfrm>
          <a:prstGeom prst="line">
            <a:avLst/>
          </a:prstGeom>
          <a:noFill/>
          <a:ln w="17780">
            <a:solidFill>
              <a:srgbClr val="DC382D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931920" y="1682496"/>
            <a:ext cx="411480" cy="0"/>
          </a:xfrm>
          <a:prstGeom prst="line">
            <a:avLst/>
          </a:prstGeom>
          <a:noFill/>
          <a:ln w="17780">
            <a:solidFill>
              <a:srgbClr val="DC382D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897880" y="1682496"/>
            <a:ext cx="502920" cy="-457200"/>
          </a:xfrm>
          <a:prstGeom prst="line">
            <a:avLst/>
          </a:prstGeom>
          <a:noFill/>
          <a:ln w="17780">
            <a:solidFill>
              <a:srgbClr val="DC382D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897880" y="1682496"/>
            <a:ext cx="502920" cy="548640"/>
          </a:xfrm>
          <a:prstGeom prst="line">
            <a:avLst/>
          </a:prstGeom>
          <a:noFill/>
          <a:ln w="17780">
            <a:solidFill>
              <a:srgbClr val="DC382D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001000" y="1225296"/>
            <a:ext cx="502920" cy="374904"/>
          </a:xfrm>
          <a:prstGeom prst="line">
            <a:avLst/>
          </a:prstGeom>
          <a:noFill/>
          <a:ln w="17780">
            <a:solidFill>
              <a:srgbClr val="DC382D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001000" y="2231136"/>
            <a:ext cx="502920" cy="-457200"/>
          </a:xfrm>
          <a:prstGeom prst="line">
            <a:avLst/>
          </a:prstGeom>
          <a:noFill/>
          <a:ln w="17780">
            <a:solidFill>
              <a:srgbClr val="DC382D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0058400" y="1682496"/>
            <a:ext cx="411480" cy="0"/>
          </a:xfrm>
          <a:prstGeom prst="line">
            <a:avLst/>
          </a:prstGeom>
          <a:noFill/>
          <a:ln w="17780">
            <a:solidFill>
              <a:srgbClr val="DC382D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77240" y="3337560"/>
            <a:ext cx="333756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" y="3337560"/>
            <a:ext cx="73152" cy="1417320"/>
          </a:xfrm>
          <a:prstGeom prst="rect">
            <a:avLst/>
          </a:prstGeom>
          <a:solidFill>
            <a:srgbClr val="DC382D"/>
          </a:solidFill>
          <a:ln w="12700">
            <a:solidFill>
              <a:srgbClr val="DC382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8408" y="350215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Rewriting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978408" y="3867912"/>
            <a:ext cx="30175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中文领域问题扩展为 Redis 英文术语，例如“持久化”扩展到 persistence、RDB、AOF、snapshot。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434840" y="3337560"/>
            <a:ext cx="333756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34840" y="3337560"/>
            <a:ext cx="73152" cy="14173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36008" y="350215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DB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636008" y="3867912"/>
            <a:ext cx="30175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将 chunk 和向量持久化到 data/index/vectors.jsonl，可重复加载，不依赖外部数据库。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092440" y="3337560"/>
            <a:ext cx="333756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92440" y="3337560"/>
            <a:ext cx="73152" cy="1417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93608" y="350215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Answer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93608" y="3867912"/>
            <a:ext cx="30175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生成器只基于检索上下文回答，并在答案中保留 [1] 形式来源引用。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02920" y="6519672"/>
            <a:ext cx="11155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Redis-RAG 作业汇报  |  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DC382D"/>
          </a:solidFill>
          <a:ln w="12700">
            <a:solidFill>
              <a:srgbClr val="DC38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9144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RAG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高级 RAG 优化：Query Rewriting + 混合检索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38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融合分数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572768"/>
            <a:ext cx="48463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792224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0.45 × vector_score + 0.55 × bm25_score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2743200"/>
            <a:ext cx="4663440" cy="1234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向量检索：捕捉语义相似表达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BM25：保留命令名、缩写和精确概念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Rewriting：打通中文提问与英文官方术语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234440"/>
          <a:ext cx="5166360" cy="3154680"/>
        </p:xfrm>
        <a:graphic>
          <a:graphicData uri="http://schemas.openxmlformats.org/drawingml/2006/table">
            <a:tbl>
              <a:tblPr/>
              <a:tblGrid>
                <a:gridCol w="2583180"/>
                <a:gridCol w="2583180"/>
              </a:tblGrid>
              <a:tr h="6309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32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用户词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mid">
                    <a:lnL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32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扩展词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mid">
                    <a:lnL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32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持久化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mid">
                    <a:lnL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32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persistence, RDB, AOF, snapshot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mid">
                    <a:lnL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32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高可用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mid">
                    <a:lnL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32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replication, sentinel, failover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mid">
                    <a:lnL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32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过期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mid">
                    <a:lnL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32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expire, TTL, timeout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mid">
                    <a:lnL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32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队列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mid">
                    <a:lnL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32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list, stream, consumer group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mid">
                    <a:lnL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822960" y="493776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为什么适合 Redis：技术问答里 AOF、RDB、TTL 等术语必须精确命中，纯语义检索容易漏掉或混入弱相关片段。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02920" y="6519672"/>
            <a:ext cx="11155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Redis-RAG 作业汇报  |  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DC382D"/>
          </a:solidFill>
          <a:ln w="12700">
            <a:solidFill>
              <a:srgbClr val="DC38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9144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RAG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生成模块：DeepSeek 优先，抽取式回退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685800" y="1143000"/>
            <a:ext cx="507492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143000"/>
            <a:ext cx="73152" cy="1325880"/>
          </a:xfrm>
          <a:prstGeom prst="rect">
            <a:avLst/>
          </a:prstGeom>
          <a:solidFill>
            <a:srgbClr val="DC382D"/>
          </a:solidFill>
          <a:ln w="12700">
            <a:solidFill>
              <a:srgbClr val="DC38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1307592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DeepSeek/OpenAI-compatible LLM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86968" y="1673352"/>
            <a:ext cx="47548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设置 DEEPSEEK_API_KEY 后，系统默认调用 deepseek-v4-pro；也兼容 OPENAI_API_KEY、OPENAI_BASE_URL、OPENAI_MODEL。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2788920"/>
            <a:ext cx="507492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2788920"/>
            <a:ext cx="7315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6968" y="2953512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 Key 可复现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86968" y="3319272"/>
            <a:ext cx="47548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 API key 时自动使用抽取式生成器，只从检索上下文中选句，保证作业演示不被外部服务阻塞。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507492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4434840"/>
            <a:ext cx="7315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6968" y="4599432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防幻觉约束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86968" y="4965192"/>
            <a:ext cx="47548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系统提示要求只能依据上下文回答；生成阶段还会过滤弱相关上下文，减少答案污染。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0" y="1143000"/>
            <a:ext cx="4983480" cy="4434840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20840" y="1417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38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一键推理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720840" y="1965960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infer.py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--question "Redis Sentinel 主要解决什么问题？"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20840" y="299923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可选环境变量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720840" y="3401568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DEEPSEEK_API_KEY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OPENAI_MODEL=deepseek-v4-pro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20840" y="473659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C38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key 不写入代码仓库。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02920" y="6519672"/>
            <a:ext cx="11155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Redis-RAG 作业汇报  |  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DC382D"/>
          </a:solidFill>
          <a:ln w="12700">
            <a:solidFill>
              <a:srgbClr val="DC38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9144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RAG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量化评估设计</a:t>
            </a:r>
            <a:endParaRPr lang="en-US" sz="2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34440"/>
          <a:ext cx="10835640" cy="2148840"/>
        </p:xfrm>
        <a:graphic>
          <a:graphicData uri="http://schemas.openxmlformats.org/drawingml/2006/table">
            <a:tbl>
              <a:tblPr/>
              <a:tblGrid>
                <a:gridCol w="3611880"/>
                <a:gridCol w="3611880"/>
                <a:gridCol w="3611880"/>
              </a:tblGrid>
              <a:tr h="5372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32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维度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32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定义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32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实现方式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32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 Relevance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32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检索上下文是否覆盖标注相关文档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32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Top-k doc_id 与 gold_doc_ids 的覆盖率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32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Faithfulness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32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答案是否被上下文支持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32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答案 token 在上下文 token 中的支持比例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32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Answer Relevance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32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答案是否回应问题要点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32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期望关键词覆盖率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931920"/>
            <a:ext cx="342900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3931920"/>
            <a:ext cx="73152" cy="1188720"/>
          </a:xfrm>
          <a:prstGeom prst="rect">
            <a:avLst/>
          </a:prstGeom>
          <a:solidFill>
            <a:srgbClr val="DC382D"/>
          </a:solidFill>
          <a:ln w="12700">
            <a:solidFill>
              <a:srgbClr val="DC382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86968" y="409651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评估集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86968" y="4462272"/>
            <a:ext cx="3108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条 Redis 技术问题，覆盖持久化、过期、Stream、Sentinel、Cluster、事务、Lua、缓存风险等主题。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89120" y="3931920"/>
            <a:ext cx="342900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89120" y="3931920"/>
            <a:ext cx="73152" cy="1188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90288" y="409651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输出文件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90288" y="4462272"/>
            <a:ext cx="3108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outputs/eval_results.json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outputs/eval_results.csv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092440" y="3931920"/>
            <a:ext cx="342900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092440" y="3931920"/>
            <a:ext cx="73152" cy="1188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93608" y="409651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运行命令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8293608" y="4462272"/>
            <a:ext cx="3108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python3 evaluate.py --rebuild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502920" y="6519672"/>
            <a:ext cx="11155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Redis-RAG 作业汇报  |  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DC382D"/>
          </a:solidFill>
          <a:ln w="12700">
            <a:solidFill>
              <a:srgbClr val="DC38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9144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RAG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实验结果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22960" y="132588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Relevance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520440" y="1344168"/>
            <a:ext cx="5669280" cy="25603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520440" y="1344168"/>
            <a:ext cx="5669280" cy="256032"/>
          </a:xfrm>
          <a:prstGeom prst="rect">
            <a:avLst/>
          </a:prstGeom>
          <a:solidFill>
            <a:srgbClr val="DC382D"/>
          </a:solidFill>
          <a:ln w="12700">
            <a:solidFill>
              <a:srgbClr val="DC38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464040" y="130759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1.0000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256032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Faithfulness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520440" y="2578608"/>
            <a:ext cx="5669280" cy="25603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20440" y="2578608"/>
            <a:ext cx="4601188" cy="25603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464040" y="25420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0.8116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379476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Relevance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520440" y="3813048"/>
            <a:ext cx="5669280" cy="25603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20440" y="3813048"/>
            <a:ext cx="4960620" cy="2560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64040" y="37764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0.8750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22960" y="5074920"/>
            <a:ext cx="1046988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5285232"/>
            <a:ext cx="9921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结论：系统能稳定检索到相关文档；答案基本由检索上下文支持；部分 Answer Relevance 损失来自抽取句与期望关键词表述不完全一致。</a:t>
            </a:r>
            <a:endParaRPr lang="en-US" sz="1220" dirty="0"/>
          </a:p>
        </p:txBody>
      </p:sp>
      <p:sp>
        <p:nvSpPr>
          <p:cNvPr id="19" name="Text 17"/>
          <p:cNvSpPr/>
          <p:nvPr/>
        </p:nvSpPr>
        <p:spPr>
          <a:xfrm>
            <a:off x="502920" y="6519672"/>
            <a:ext cx="11155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Redis-RAG 作业汇报  |  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DC382D"/>
          </a:solidFill>
          <a:ln w="12700">
            <a:solidFill>
              <a:srgbClr val="DC38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9144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RAG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 Case 与局限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685800" y="1143000"/>
            <a:ext cx="525780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143000"/>
            <a:ext cx="73152" cy="1417320"/>
          </a:xfrm>
          <a:prstGeom prst="rect">
            <a:avLst/>
          </a:prstGeom>
          <a:solidFill>
            <a:srgbClr val="DC382D"/>
          </a:solidFill>
          <a:ln w="12700">
            <a:solidFill>
              <a:srgbClr val="DC38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130759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 Case：持久化问题混入 Pub/Sub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86968" y="1673352"/>
            <a:ext cx="49377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早期检索中 Pub/Sub 文档因为出现“不会持久化”等词，被排到较前位置。说明技术文档中共现词可能造成弱相关上下文污染。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63640" y="1143000"/>
            <a:ext cx="525780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63640" y="1143000"/>
            <a:ext cx="73152" cy="14173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64808" y="130759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修正：生成阶段上下文过滤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64808" y="1673352"/>
            <a:ext cx="49377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生成器只使用与最高分足够接近的上下文。最终 AOF/RDB 问题只引用 persistence 文档，答案更聚焦。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3154680"/>
            <a:ext cx="342900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3154680"/>
            <a:ext cx="7315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6968" y="33192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局限 1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86968" y="3685032"/>
            <a:ext cx="31089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默认 hashing embedding 可复现，但语义能力弱于 BGE/SentenceTransformer。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389120" y="3154680"/>
            <a:ext cx="342900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89120" y="3154680"/>
            <a:ext cx="7315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90288" y="33192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局限 2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90288" y="3685032"/>
            <a:ext cx="31089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内置评估集规模较小，适合课程演示，真实系统需要更多人工标注问题。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092440" y="3154680"/>
            <a:ext cx="342900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92440" y="3154680"/>
            <a:ext cx="7315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93608" y="33192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局限 3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93608" y="3685032"/>
            <a:ext cx="31089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接入 LLM 后表达更自然，但仍需持续监控 Faithfulness 防止幻觉。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02920" y="6519672"/>
            <a:ext cx="11155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Redis-RAG 作业汇报  |  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DC382D"/>
          </a:solidFill>
          <a:ln w="12700">
            <a:solidFill>
              <a:srgbClr val="DC38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9144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RAG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总结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22960" y="1234440"/>
            <a:ext cx="6400800" cy="2468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4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完成 Redis 私有知识库、Chunking、Embedding、向量库、检索、生成和评估闭环</a:t>
            </a:r>
            <a:endParaRPr lang="en-US" sz="1400" dirty="0"/>
          </a:p>
          <a:p>
            <a:pPr marL="165100" indent="-165100">
              <a:buSzPct val="100000"/>
              <a:buChar char="•"/>
            </a:pPr>
            <a:r>
              <a:rPr lang="en-US" sz="14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实现 Query Rewriting + BM25/Vector Hybrid Retrieval，贴合 Redis 命令密集型问答</a:t>
            </a:r>
            <a:endParaRPr lang="en-US" sz="1400" dirty="0"/>
          </a:p>
          <a:p>
            <a:pPr marL="165100" indent="-165100">
              <a:buSzPct val="100000"/>
              <a:buChar char="•"/>
            </a:pPr>
            <a:r>
              <a:rPr lang="en-US" sz="14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支持 DeepSeek deepseek-v4-pro，同时保留无 Key 抽取式回退</a:t>
            </a:r>
            <a:endParaRPr lang="en-US" sz="1400" dirty="0"/>
          </a:p>
          <a:p>
            <a:pPr marL="165100" indent="-165100">
              <a:buSzPct val="100000"/>
              <a:buChar char="•"/>
            </a:pPr>
            <a:r>
              <a:rPr lang="en-US" sz="14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交付完整仓库：README、requirements、一键推理、报告和 PPT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818120" y="1234440"/>
            <a:ext cx="3474720" cy="297180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92440" y="157276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C38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推荐演示命令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092440" y="2011680"/>
            <a:ext cx="2880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infer.py --question \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"Redis 的 AOF 和 RDB 持久化有什么区别？"</a:t>
            </a:r>
            <a:endParaRPr lang="en-US" sz="970" dirty="0"/>
          </a:p>
          <a:p>
            <a:pPr indent="0" marL="0">
              <a:buNone/>
            </a:pP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evaluate.py --rebuild</a:t>
            </a:r>
            <a:endParaRPr lang="en-US" sz="970" dirty="0"/>
          </a:p>
        </p:txBody>
      </p:sp>
      <p:sp>
        <p:nvSpPr>
          <p:cNvPr id="9" name="Text 7"/>
          <p:cNvSpPr/>
          <p:nvPr/>
        </p:nvSpPr>
        <p:spPr>
          <a:xfrm>
            <a:off x="868680" y="53492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C38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谢谢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02920" y="6519672"/>
            <a:ext cx="11155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Redis-RAG 作业汇报  |  10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Coursework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Redis-RAG 垂直领域深度问答系统</dc:title>
  <dc:subject>基于 RAG 的 Redis 垂直领域深度问答系统构建</dc:subject>
  <dc:creator>Redis RAG Coursework</dc:creator>
  <cp:lastModifiedBy>Redis RAG Coursework</cp:lastModifiedBy>
  <cp:revision>1</cp:revision>
  <dcterms:created xsi:type="dcterms:W3CDTF">2026-06-07T04:51:37Z</dcterms:created>
  <dcterms:modified xsi:type="dcterms:W3CDTF">2026-06-07T04:51:37Z</dcterms:modified>
</cp:coreProperties>
</file>