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68" r:id="rId17"/>
    <p:sldId id="269" r:id="rId18"/>
    <p:sldId id="270" r:id="rId19"/>
  </p:sldIdLst>
  <p:sldSz cx="1219136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</a:t>
            </a:r>
            <a:r>
              <a:t>选择的是 Redis 垂直领域问答系统，</a:t>
            </a:r>
            <a:r>
              <a:t>这次汇报的题目是基于 RAG 的 Redis 问答系统。项目的核心目标不是简单调用大模型回答 Redis 问题，而是先把 Redis 官方文档和清洗后的技术语料构造成一个私有知识库，再通过检索增强生成的方式让答案有依据、有来源、可评估。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为什么选择 Redis 。Redis 的知识边界很清楚，文档主题集中在数据结构、命令、持久化、高可用、集群和缓存工程这些内容上，适合构建一个范围明确的私有知识库。同时，Redis 问答中有大量精确术语，例如 AOF、RDB、TTL这些词如果没有被检索命中，答案很容易跑偏。Redis 官方文档有稳定的 URL，可以把答案和来源绑定起来，所以这个选题能很好地展示 RAG 相比普通大模型问答的优势，答案不只流畅，还要可追溯、可检查。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这里展示私有知识库的构建流程。数据来源是 Redis 官方文档，经过页面抓取、正文清洗以后保存为 JSONL 格式。每条文档都保留 doc_id、title、url 和 text，其中 doc_id 负责评估和引用，url 负责追溯来源，text 是清洗后的正文。</a:t>
            </a:r>
            <a:r>
              <a:t>同时仓库里放了一份内置清洗语料，保留了采集脚本。项目既能离线跑通，又能说明真实私有知识库从网页到结构化语料的完整处理过程。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这里介绍</a:t>
            </a:r>
            <a:r>
              <a:t>了知识库覆盖范围。不是只放几个 Redis 命令，而是覆盖了基础数据结构、生命周期管理、可靠性、高可用、横向扩展、脚本能力、消息机制和缓存工程。比如基础结构里有 String、Hash、List、Stream 和 Set，可靠性里有 RDB 和 AOF，高可用里有 Sentinel，缓存工程里有缓存穿透、击穿和雪崩。这样设计的好处是评估问题可以更全面，既能问一个单点命令，也能问架构机制和工程实践。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这里页讲分块。技术文档不能随便按长度切，因为 Redis 的命令名和缩写往往就是问题的关键。</a:t>
            </a:r>
            <a:r>
              <a:t>项目实现了 Redis-aware tokenizer（</a:t>
            </a:r>
            <a:r>
              <a:t>分词器），专门保留 AOF、RDB、TTL、这类命令和缩写，也识别持久化、主从复制、消费者组这些中文领域词。默认 chunk_size 是 320，overlap 是 40，这样每个片段既不会太短导致上下文不足，也不会太长带入太多噪声。每个 chunk 还保存来源标题、URL 和 token 范围，后面做引用和调试时就能知道答案来自哪里。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这一页介绍最终采用的中文问答链路：官方文档知识库、技术词分块、哈希嵌入、本地索引文件、关键词和语义混合检索、二阶段重排序。这样做的原因是稳定、可复现、无需下载大模型，同时能准确命中 Redis 里的持久化、过期时间等关键概念。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</a:t>
            </a:r>
            <a:r>
              <a:t>里介绍</a:t>
            </a:r>
            <a:r>
              <a:t> Query Rewriting。Redis 官方文档里很多术语是英文，但用户提问经常是中文，比如持久化、高可用、过期、队列。如果直接拿中文问题去检索英文文档，很容易召回不稳定。因此系统维护了一个领域词扩展表，把持久化扩展成 persistence、RDB、AOF、snapshot，把高可用扩展成 replication、sentinel、failover，把队列扩展成 list、stream、consumer group。这个模块的作用不是生成答案，而是在检索前把问题改写成更容易命中文档的形式。这里可以举一个具体例子：用户说“持久化”，Redis 文档里可能写的是 persistence、snapshot 或 append only file。如果不做查询重写，中文问题和英文文档之间会断开；做了扩展后，检索器才更容易找到真正相关片段。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</a:t>
            </a:r>
            <a:r>
              <a:t>里介绍</a:t>
            </a:r>
            <a:r>
              <a:t> RAG</a:t>
            </a:r>
            <a:r>
              <a:t>优化方案：混合检索</a:t>
            </a:r>
            <a:r>
              <a:t> </a:t>
            </a:r>
            <a:r>
              <a:t>（向量检索</a:t>
            </a:r>
            <a:r>
              <a:t>+</a:t>
            </a:r>
            <a:r>
              <a:t>关键词检索</a:t>
            </a:r>
            <a:r>
              <a:t>结合）</a:t>
            </a:r>
            <a:r>
              <a:t>。单纯向量检索能处理语义相似，但对 AOF、RDB、TTL 这种精确术语未必足够敏感；单纯 BM25 对关键词非常强，但遇到中英文表达差异和同义表达时又会受限。因此系统把向量分数和 BM25 分数做归一化融合，公式是 score 等于 0.45 乘向量分数加 0.55 乘 BM25 分数。这里 BM25 权重略高，是因为 Redis 问答是命令密集型任务，精确术语命中对答案正确性非常关键。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下面</a:t>
            </a:r>
            <a:r>
              <a:t>展示</a:t>
            </a:r>
            <a:r>
              <a:t>了</a:t>
            </a:r>
            <a:r>
              <a:t>端到端系统架构。官方文档先清洗成文本语料，再切成检索片段；片段同时进入本地向量库和关键词索引。用户问题先做查询改写，然后进入 </a:t>
            </a:r>
            <a:r>
              <a:t>上一页的</a:t>
            </a:r>
            <a:r>
              <a:t>混合检索</a:t>
            </a:r>
            <a:r>
              <a:t>，候选片段再经过二阶段重排序</a:t>
            </a:r>
            <a:r>
              <a:t>，最后把筛选后的上下文交给生成模型或抽取式回退。生成答案之后还会做</a:t>
            </a:r>
            <a:r>
              <a:t>引用检查</a:t>
            </a:r>
            <a:r>
              <a:t>，检查引用编号是否存在、是否和上下文有关。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</a:t>
            </a:r>
            <a:r>
              <a:t>里</a:t>
            </a:r>
            <a:r>
              <a:t>讲生成模块。项目支持 DeepSeek，只要通过环境变量配置 DEEPSEEK_API_KEY，默认模型就是 deepseek-v4-pro。提示词里要求模型只能依据检索上下文回答，并且必须带 [1] 这样的来源引用。如果没有 API key，系统会自动使用抽取式回退，从检索片段里抽取最相关的句子组成答案。这个回退模式虽然表达没有强 LLM 那么自然，但它保证了系统在离线环境下也能完整运行，并且所有答案都来自知识库上下文。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</a:t>
            </a:r>
            <a:r>
              <a:t>里</a:t>
            </a:r>
            <a:r>
              <a:t>介绍</a:t>
            </a:r>
            <a:r>
              <a:t>了</a:t>
            </a:r>
            <a:r>
              <a:t>评估方案。RAG 系统不能只展示一个看起来不错的答案，还要量化检索和生成的效果。设置了三个指标：Context Relevance </a:t>
            </a:r>
            <a:r>
              <a:t>（上下文相关性）</a:t>
            </a:r>
            <a:r>
              <a:t>看检索结果是否覆盖标注相关文档，Faithfulness </a:t>
            </a:r>
            <a:r>
              <a:t>（答案忠实度）</a:t>
            </a:r>
            <a:r>
              <a:t>看答案内容是否能被上下文支持，Answer Relevance </a:t>
            </a:r>
            <a:r>
              <a:t>（答案相</a:t>
            </a:r>
          </a:p>
          <a:p>
            <a:r>
              <a:t>关性）</a:t>
            </a:r>
            <a:r>
              <a:t>看答案是否覆盖问题需要的关键词。评估集有 20 条 Redis 技术问题，覆盖数据结构、持久化、高可用、Lua、缓存风险等主题，结果会保存为 JSON 和 CSV，方便复查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下面</a:t>
            </a:r>
            <a:r>
              <a:t>展示</a:t>
            </a:r>
            <a:r>
              <a:t>了</a:t>
            </a:r>
            <a:r>
              <a:t>实际评估结果。20 条问题下，Context Relevance </a:t>
            </a:r>
            <a:r>
              <a:t>（上下文相关性）</a:t>
            </a:r>
            <a:r>
              <a:t>是 0.9750，说明检索整体比较稳定，但对于个别多主题问题仍然可能漏掉一部分 gold 文档；Faithfulness</a:t>
            </a:r>
            <a:r>
              <a:t>（答案忠实度</a:t>
            </a:r>
            <a:r>
              <a:t>)</a:t>
            </a:r>
            <a:r>
              <a:t> 是 0.8319，说明答案大部分内容能被检索上下文支持；Answer Relevance(</a:t>
            </a:r>
            <a:r>
              <a:t>答案相</a:t>
            </a:r>
          </a:p>
          <a:p>
            <a:r>
              <a:t>关性</a:t>
            </a:r>
            <a:r>
              <a:t>) 是 0.9375，说明答案基本覆盖关键要点。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这一页展示我补充的前端可视化页面。页面左侧显示知识库规模，中间展示用户问题和带引用答案，右侧展示 Top-3 检索证据和评估指标。这样汇报时不仅能说明命令行可以运行，也能展示最终系统如果做成可视化界面会是什么效果。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下面是</a:t>
            </a:r>
            <a:r>
              <a:t>检索策略消融实验。compare_retrieval.py 在同一批 20 条问题上对比 pure vector</a:t>
            </a:r>
            <a:r>
              <a:t>（纯向量）</a:t>
            </a:r>
            <a:r>
              <a:t>、BM25</a:t>
            </a:r>
            <a:r>
              <a:t>（纯关键词）</a:t>
            </a:r>
            <a:r>
              <a:t>、hybrid</a:t>
            </a:r>
            <a:r>
              <a:t>（混合检索）</a:t>
            </a:r>
            <a:r>
              <a:t> 和 hybrid rerank</a:t>
            </a:r>
            <a:r>
              <a:t>（</a:t>
            </a:r>
            <a:r>
              <a:t>混合检索后再加重排序）</a:t>
            </a:r>
            <a:r>
              <a:t>。结果可以看到，pure vector 的 Context Relevance</a:t>
            </a:r>
            <a:r>
              <a:t>（上下文召回准确率）</a:t>
            </a:r>
            <a:r>
              <a:t>、Top-1(</a:t>
            </a:r>
            <a:r>
              <a:t>首条命中准确率</a:t>
            </a:r>
            <a:r>
              <a:t>) Hit 和 MRR </a:t>
            </a:r>
            <a:r>
              <a:t>（平均倒数排名）</a:t>
            </a:r>
            <a:r>
              <a:t>都低于其他策略，说明只靠向量检索不适合 Redis 这种命令名密集的技术文档。BM25 在当前评估集上表现非常强，hybrid</a:t>
            </a:r>
            <a:r>
              <a:t>（混合检索）</a:t>
            </a:r>
            <a:r>
              <a:t>和 hybrid rerank </a:t>
            </a:r>
            <a:r>
              <a:t>（混合检索后再加</a:t>
            </a:r>
            <a:r>
              <a:t>重排序）</a:t>
            </a:r>
            <a:r>
              <a:t>保持了 Top-1 与 MRR 的稳定。rerank </a:t>
            </a:r>
            <a:r>
              <a:t>（重排序）</a:t>
            </a:r>
            <a:r>
              <a:t>的价值主要在于提供最终排序和术语覆盖等可解释字段，方便后续做</a:t>
            </a:r>
            <a:r>
              <a:t>案例</a:t>
            </a:r>
            <a:r>
              <a:t>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下面是</a:t>
            </a:r>
            <a:r>
              <a:t>用 AOF 和 RDB 的问题做案例分析。系统最终命中了 redis:persistence 文档，最终 score 是 1.0819，其中 combined_score 是 1.0000，reranker 又根据 AOF、RDB、persistence 这些术语覆盖给了额外加分。答案说明 RDB 是快照，适合备份和快速恢复；AOF 是追加日志，通常提供更好的数据安全性。这个案例能说明 Query Rewriting、BM25 精确匹配和轻量重排序是如何共同把问题定位到正确文档上的。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</a:t>
            </a:r>
            <a:r>
              <a:t>是总结。可以看到 redis:persistence 排名第一，而 redis:pubsub 虽然也被召回，但分数明显低一些。这个 Bad Case 很典型，因为 Pub/Sub 文档里也出现了“不会持久化”这类词，容易形成弱相关召回。系统通过 Query Rewriting、Hybrid Retrieval、Rerank 和上下文过滤把真正相关文档排在前面，并且用 citation checking 检查答案引用。总体来说，这个项目已经形成从知识库构建、检索、生成、评估到展示材料的完整闭环。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8A1C14">
              <a:alpha val="90000"/>
            </a:srgbClr>
          </a:solidFill>
          <a:ln w="12700">
            <a:solidFill>
              <a:srgbClr val="8A1C14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822960" y="1078992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Redis-RAG</a:t>
            </a:r>
            <a:endParaRPr sz="4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41375" y="1901825"/>
            <a:ext cx="6675120" cy="56769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基于 RAG 的</a:t>
            </a:r>
            <a:r>
              <a:rPr lang="en-US" sz="24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Redis</a:t>
            </a:r>
            <a:r>
              <a:rPr sz="2400">
                <a:solidFill>
                  <a:srgbClr val="F8FAFC"/>
                </a:solidFill>
                <a:latin typeface="微软雅黑"/>
                <a:ea typeface="微软雅黑"/>
                <a:cs typeface="微软雅黑"/>
              </a:rPr>
              <a:t>问答系统构建</a:t>
            </a:r>
            <a:endParaRPr sz="2400">
              <a:solidFill>
                <a:srgbClr val="F8FAF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514350" y="4229735"/>
            <a:ext cx="7198360" cy="1263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>
                <a:solidFill>
                  <a:srgbClr val="DDE7F3"/>
                </a:solidFill>
                <a:latin typeface="微软雅黑"/>
                <a:ea typeface="微软雅黑"/>
                <a:cs typeface="微软雅黑"/>
              </a:rPr>
              <a:t>私有知识库 · 混合检索 · DeepSeek 生成 · 三维量化评估</a:t>
            </a:r>
            <a:endParaRPr sz="2000" b="1">
              <a:solidFill>
                <a:srgbClr val="DDE7F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68680" y="3364992"/>
            <a:ext cx="72237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006840" y="1417320"/>
            <a:ext cx="2148840" cy="2148840"/>
          </a:xfrm>
          <a:prstGeom prst="roundRect">
            <a:avLst>
              <a:gd name="adj" fmla="val 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9281160" y="192024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RAG</a:t>
            </a:r>
            <a:endParaRPr sz="31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9308592" y="2578608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Redis Docs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QA System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084955"/>
            <a:ext cx="3749040" cy="2114550"/>
          </a:xfrm>
          <a:prstGeom prst="rect">
            <a:avLst/>
          </a:prstGeom>
        </p:spPr>
      </p:pic>
      <p:sp>
        <p:nvSpPr>
          <p:cNvPr id="12" name="Text 9"/>
          <p:cNvSpPr>
            <a:spLocks noGrp="1"/>
          </p:cNvSpPr>
          <p:nvPr/>
        </p:nvSpPr>
        <p:spPr>
          <a:xfrm>
            <a:off x="868680" y="619963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CBD5E1"/>
                </a:solidFill>
                <a:latin typeface="微软雅黑"/>
                <a:ea typeface="微软雅黑"/>
                <a:cs typeface="微软雅黑"/>
              </a:rPr>
              <a:t>2026.06</a:t>
            </a:r>
            <a:endParaRPr sz="950">
              <a:solidFill>
                <a:srgbClr val="CBD5E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521970" y="2842895"/>
            <a:ext cx="678815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</a:rPr>
              <a:t>Redis 官方文档和清洗后的技术语料构造成一个私有知识库</a:t>
            </a:r>
            <a:endParaRPr>
              <a:solidFill>
                <a:schemeClr val="bg1"/>
              </a:solidFill>
            </a:endParaRPr>
          </a:p>
          <a:p/>
          <a:p/>
          <a:p>
            <a:r>
              <a:rPr>
                <a:solidFill>
                  <a:schemeClr val="bg1"/>
                </a:solidFill>
              </a:rPr>
              <a:t>通过检索增强生成的方式让答案有依据、有来源、可评估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0"/>
            <a:ext cx="4023360" cy="4159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选题动机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为什么选 Redis 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2/16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731520" y="123444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731520" y="1234440"/>
            <a:ext cx="91440" cy="18288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969264" y="139903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边界清晰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69010" y="1750060"/>
            <a:ext cx="3044825" cy="1167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Redis 文档围绕数据结构、命令、持久化、高可用、集群和缓存工程展开，知识范围明确，适合构建私有知识库。</a:t>
            </a:r>
            <a:endParaRPr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4389120" y="123444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4389120" y="1234440"/>
            <a:ext cx="9144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4626864" y="139903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术语密集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626610" y="1750060"/>
            <a:ext cx="3044825" cy="1167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AOF、RDB、TTL、XREADGROUP、WATCH、EXEC 等精确术语决定答案质量，适合展示检索策略差异。</a:t>
            </a:r>
            <a:endParaRPr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046720" y="123444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046720" y="123444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284464" y="139903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可追溯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284464" y="1801368"/>
            <a:ext cx="3044952" cy="11155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Redis 官方文档页面稳定，每条知识记录保留 URL，答案可带来源引用，便于分析</a:t>
            </a: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答案忠实度</a:t>
            </a: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。</a:t>
            </a:r>
            <a:endParaRPr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77240" y="37307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技术文档 RAG 的三个难点</a:t>
            </a:r>
            <a:endParaRPr sz="20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960120" y="4182110"/>
            <a:ext cx="10748010" cy="154368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000" lnSpcReduction="10000"/>
          </a:bodyPr>
          <a:lstStyle/>
          <a:p>
            <a:pPr marL="177800" indent="-177800">
              <a:lnSpc>
                <a:spcPct val="150000"/>
              </a:lnSpc>
              <a:buChar char="•"/>
            </a:pPr>
            <a:r>
              <a:rPr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中文问题与英文官方术语存在表达差异</a:t>
            </a:r>
            <a:endParaRPr sz="20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177800" indent="-177800">
              <a:lnSpc>
                <a:spcPct val="150000"/>
              </a:lnSpc>
              <a:buChar char="•"/>
            </a:pPr>
            <a:r>
              <a:rPr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相似概念容易误召回，</a:t>
            </a:r>
            <a:r>
              <a:rPr lang="zh-CN"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功能相近但实现完全不同的概念</a:t>
            </a:r>
            <a:r>
              <a:rPr lang="zh-CN"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混淆</a:t>
            </a:r>
            <a:endParaRPr lang="zh-CN" sz="20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例如</a:t>
            </a:r>
            <a:r>
              <a:rPr lang="zh-CN"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：消息队列相关的</a:t>
            </a:r>
            <a:r>
              <a:rPr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Pub/Sub 与 Stream、</a:t>
            </a:r>
            <a:r>
              <a:rPr lang="zh-CN"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持久化相关的</a:t>
            </a:r>
            <a:r>
              <a:rPr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RDB 与 AOF</a:t>
            </a:r>
            <a:endParaRPr sz="20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177800" indent="-177800">
              <a:lnSpc>
                <a:spcPct val="150000"/>
              </a:lnSpc>
              <a:buChar char="•"/>
            </a:pPr>
            <a:r>
              <a:rPr sz="20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答案必须忠实于上下文，不能凭模型记忆补充未检索到的内容</a:t>
            </a:r>
            <a:endParaRPr sz="20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数据构建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私有知识库构建流程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3/16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731520" y="1234440"/>
            <a:ext cx="178308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804672" y="1325880"/>
            <a:ext cx="163677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Redis 官方文档</a:t>
            </a:r>
            <a:endParaRPr sz="13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260604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2971800" y="1234440"/>
            <a:ext cx="1417320" cy="658368"/>
          </a:xfrm>
          <a:prstGeom prst="roundRect">
            <a:avLst>
              <a:gd name="adj" fmla="val 4861"/>
            </a:avLst>
          </a:prstGeom>
          <a:solidFill>
            <a:srgbClr val="FDE8E5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3044952" y="1325880"/>
            <a:ext cx="127101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页面抓取</a:t>
            </a:r>
            <a:endParaRPr sz="13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448056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</a:ln>
        </p:spPr>
      </p:sp>
      <p:sp>
        <p:nvSpPr>
          <p:cNvPr id="12" name="Shape 10"/>
          <p:cNvSpPr>
            <a:spLocks noGrp="1"/>
          </p:cNvSpPr>
          <p:nvPr/>
        </p:nvSpPr>
        <p:spPr>
          <a:xfrm>
            <a:off x="4846320" y="1234440"/>
            <a:ext cx="1417320" cy="658368"/>
          </a:xfrm>
          <a:prstGeom prst="roundRect">
            <a:avLst>
              <a:gd name="adj" fmla="val 4861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4919472" y="1325880"/>
            <a:ext cx="127101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清洗正文</a:t>
            </a:r>
            <a:endParaRPr sz="13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35508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</a:ln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6720840" y="1234440"/>
            <a:ext cx="1554480" cy="658368"/>
          </a:xfrm>
          <a:prstGeom prst="roundRect">
            <a:avLst>
              <a:gd name="adj" fmla="val 4861"/>
            </a:avLst>
          </a:prstGeom>
          <a:solidFill>
            <a:srgbClr val="E9F8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6793992" y="1325880"/>
            <a:ext cx="140817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JSONL 语料</a:t>
            </a:r>
            <a:endParaRPr sz="13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836676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</a:ln>
        </p:spPr>
      </p:sp>
      <p:sp>
        <p:nvSpPr>
          <p:cNvPr id="18" name="Shape 16"/>
          <p:cNvSpPr>
            <a:spLocks noGrp="1"/>
          </p:cNvSpPr>
          <p:nvPr/>
        </p:nvSpPr>
        <p:spPr>
          <a:xfrm>
            <a:off x="8732520" y="1234440"/>
            <a:ext cx="1417320" cy="658368"/>
          </a:xfrm>
          <a:prstGeom prst="roundRect">
            <a:avLst>
              <a:gd name="adj" fmla="val 4861"/>
            </a:avLst>
          </a:prstGeom>
          <a:solidFill>
            <a:srgbClr val="FDE8E5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8805672" y="1325880"/>
            <a:ext cx="127101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索引构建</a:t>
            </a:r>
            <a:endParaRPr sz="13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1024128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</a:ln>
        </p:spPr>
      </p:sp>
      <p:sp>
        <p:nvSpPr>
          <p:cNvPr id="21" name="Shape 19"/>
          <p:cNvSpPr>
            <a:spLocks noGrp="1"/>
          </p:cNvSpPr>
          <p:nvPr/>
        </p:nvSpPr>
        <p:spPr>
          <a:xfrm>
            <a:off x="10607040" y="1234440"/>
            <a:ext cx="114300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22" name="Text 20"/>
          <p:cNvSpPr>
            <a:spLocks noGrp="1"/>
          </p:cNvSpPr>
          <p:nvPr/>
        </p:nvSpPr>
        <p:spPr>
          <a:xfrm>
            <a:off x="10680192" y="1325880"/>
            <a:ext cx="996696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问答系统</a:t>
            </a:r>
            <a:endParaRPr sz="13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777240" y="2606040"/>
            <a:ext cx="516636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777240" y="2606040"/>
            <a:ext cx="91440" cy="201168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1014984" y="2770632"/>
            <a:ext cx="47823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文档字段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1014730" y="3025775"/>
            <a:ext cx="4782185" cy="159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7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doc_id：评估和引用使用</a:t>
            </a:r>
            <a:endParaRPr sz="17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7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title：展示标题</a:t>
            </a:r>
            <a:endParaRPr sz="17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7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url：官方来源追溯</a:t>
            </a:r>
            <a:endParaRPr sz="17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7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text：清洗后的正文内容</a:t>
            </a:r>
            <a:endParaRPr sz="17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6309360" y="2606040"/>
            <a:ext cx="516636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6309360" y="2606040"/>
            <a:ext cx="91440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6547104" y="2770632"/>
            <a:ext cx="47823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覆盖主题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6547104" y="3172968"/>
            <a:ext cx="4782312" cy="1298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数据结构、TTL、内存淘汰、RDB/AOF、Replication、Sentinel、Cluster、事务、Lua、Pub/Sub、缓存风险</a:t>
            </a:r>
            <a:endParaRPr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数据构建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知识库主题覆盖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4/16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1"/>
          <a:srcRect t="5387" r="3311" b="18859"/>
          <a:stretch>
            <a:fillRect/>
          </a:stretch>
        </p:blipFill>
        <p:spPr>
          <a:xfrm>
            <a:off x="713105" y="966470"/>
            <a:ext cx="10459085" cy="3920490"/>
          </a:xfrm>
          <a:prstGeom prst="rect">
            <a:avLst/>
          </a:prstGeom>
        </p:spPr>
      </p:pic>
      <p:sp>
        <p:nvSpPr>
          <p:cNvPr id="8" name="文本框 7"/>
          <p:cNvSpPr>
            <a:spLocks noGrp="1"/>
          </p:cNvSpPr>
          <p:nvPr/>
        </p:nvSpPr>
        <p:spPr>
          <a:xfrm>
            <a:off x="1233805" y="5045710"/>
            <a:ext cx="10012680" cy="16586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t>包含基础数据结构、生命周期管理、可靠性、高可用、横向扩展、脚本能力、消息机制和缓存工程。</a:t>
            </a:r>
            <a:r>
              <a:t>基础结构里有 String、Hash、List、Stream 和 Set，可靠性里有 RDB 和 AOF，高可用里有 Sentinel，缓存工程里有缓存穿透、击穿和雪崩。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727710" y="925830"/>
            <a:ext cx="10012680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文档处理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494665"/>
            <a:ext cx="10332720" cy="50165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20000"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Chunking：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分块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让检索单元既可命中又可阅读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5/16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7772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777240" y="1143000"/>
            <a:ext cx="91440" cy="18288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1042924" y="130759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分词器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014730" y="1584960"/>
            <a:ext cx="3083560" cy="1240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保留 AOF、RDB、TTL、EXPIRE、XREADGROUP、WATCH 等命令名和缩写</a:t>
            </a:r>
            <a:r>
              <a:rPr lang="zh-CN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作为完整</a:t>
            </a:r>
            <a:r>
              <a:rPr lang="en-US" altLang="zh-CN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token</a:t>
            </a:r>
            <a:r>
              <a:rPr lang="zh-CN" altLang="en-US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保存</a:t>
            </a:r>
            <a:r>
              <a:rPr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，也识别“持久化”“消费者组”等中文领域词</a:t>
            </a:r>
            <a:r>
              <a:rPr lang="zh-CN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作为整体</a:t>
            </a:r>
            <a:r>
              <a:rPr lang="en-US" altLang="zh-CN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token</a:t>
            </a:r>
            <a:r>
              <a:rPr lang="zh-CN" altLang="en-US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识别</a:t>
            </a:r>
            <a:r>
              <a:rPr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44348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4434840" y="1143000"/>
            <a:ext cx="9144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4672584" y="130759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重叠分块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672330" y="1598930"/>
            <a:ext cx="2851785" cy="12268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0000"/>
          </a:bodyPr>
          <a:lstStyle/>
          <a:p>
            <a:pPr marL="0" indent="0"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默认</a:t>
            </a:r>
            <a:r>
              <a:rPr lang="zh-CN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每个分块文本长度约为</a:t>
            </a:r>
            <a:r>
              <a:rPr lang="en-US" altLang="zh-CN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320</a:t>
            </a:r>
            <a:r>
              <a:rPr lang="zh-CN" altLang="en-US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个</a:t>
            </a:r>
            <a:r>
              <a:rPr lang="en-US" altLang="zh-CN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token</a:t>
            </a:r>
            <a:r>
              <a:rPr lang="zh-CN" altLang="en-US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chunk_size=320，</a:t>
            </a:r>
            <a:r>
              <a:rPr lang="zh-CN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相邻分块又</a:t>
            </a:r>
            <a:r>
              <a:rPr lang="en-US" altLang="zh-CN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40</a:t>
            </a:r>
            <a:r>
              <a:rPr lang="zh-CN" altLang="en-US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个</a:t>
            </a:r>
            <a:r>
              <a:rPr lang="en-US" altLang="zh-CN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token</a:t>
            </a:r>
            <a:r>
              <a:rPr lang="zh-CN" altLang="en-US"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重叠，</a:t>
            </a: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overlap=40。长文档切分后相邻 chunk 保留上下文连接，避免答案依据被切断。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0924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092440" y="114300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330184" y="130759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可解释元数据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329930" y="1627505"/>
            <a:ext cx="3044825" cy="119824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每个 chunk </a:t>
            </a:r>
            <a:r>
              <a:rPr lang="zh-CN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都附带一套元数据，</a:t>
            </a:r>
            <a:r>
              <a:rPr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保存 chunk_id、doc_id、source_title、url、start_token、end_token，便于引用和调试</a:t>
            </a:r>
            <a:r>
              <a:rPr lang="zh-CN"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，快速定位到问题出现在哪个分块，哪个文档里</a:t>
            </a:r>
            <a:r>
              <a:rPr sz="14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22960" y="3749040"/>
            <a:ext cx="4664075" cy="3289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示例：AOF/RDB </a:t>
            </a:r>
            <a:r>
              <a:rPr lang="zh-CN" sz="17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持久化</a:t>
            </a:r>
            <a:r>
              <a:rPr sz="17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问题的关键 token</a:t>
            </a:r>
            <a:endParaRPr sz="17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868680" y="425196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1051560" y="4361688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持久化</a:t>
            </a:r>
            <a:endParaRPr sz="1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2148840" y="425196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>
            <a:spLocks noGrp="1"/>
          </p:cNvSpPr>
          <p:nvPr/>
        </p:nvSpPr>
        <p:spPr>
          <a:xfrm>
            <a:off x="2331720" y="4361815"/>
            <a:ext cx="1207135" cy="26035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20000"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persistence</a:t>
            </a:r>
            <a:endParaRPr sz="1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3703320" y="425196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3886200" y="43616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RDB</a:t>
            </a:r>
            <a:endParaRPr sz="1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4754880" y="425196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4937760" y="43616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AOF</a:t>
            </a:r>
            <a:endParaRPr sz="1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5806440" y="425196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>
            <a:spLocks noGrp="1"/>
          </p:cNvSpPr>
          <p:nvPr/>
        </p:nvSpPr>
        <p:spPr>
          <a:xfrm>
            <a:off x="5989320" y="4361815"/>
            <a:ext cx="1026795" cy="244475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snapshot</a:t>
            </a:r>
            <a:endParaRPr sz="1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7223760" y="425196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>
            <a:spLocks noGrp="1"/>
          </p:cNvSpPr>
          <p:nvPr/>
        </p:nvSpPr>
        <p:spPr>
          <a:xfrm>
            <a:off x="7406640" y="4361815"/>
            <a:ext cx="1694180" cy="2362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append only file</a:t>
            </a:r>
            <a:endParaRPr sz="1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914400" y="5116195"/>
            <a:ext cx="9966960" cy="10172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如果这些 token 被切掉或弱化</a:t>
            </a:r>
            <a:r>
              <a:rPr 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（如把</a:t>
            </a:r>
            <a:r>
              <a:rPr lang="en-US" alt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AOF</a:t>
            </a:r>
            <a:r>
              <a:rPr lang="zh-CN" altLang="en-US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拆成</a:t>
            </a:r>
            <a:r>
              <a:rPr lang="en-US" alt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A/0/F</a:t>
            </a:r>
            <a:r>
              <a:rPr 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系统只能靠“持久化”这个宽泛词匹配，</a:t>
            </a: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检索会更容易偏到其他包含“持久化”字样的文档</a:t>
            </a:r>
            <a:r>
              <a:rPr 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（比如</a:t>
            </a:r>
            <a:r>
              <a:rPr lang="en-US" alt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的持久化文档</a:t>
            </a:r>
            <a:r>
              <a:rPr lang="zh-CN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。</a:t>
            </a:r>
            <a:endParaRPr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14351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347663"/>
          </a:xfrm>
          <a:prstGeom prst="rect">
            <a:avLst/>
          </a:prstGeom>
          <a:solidFill>
            <a:srgbClr val="D92D20"/>
          </a:solidFill>
          <a:ln w="0">
            <a:solidFill>
              <a:srgbClr val="D92D20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48640" y="91440"/>
            <a:ext cx="402336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8333"/>
          </a:bodyPr>
          <a:lstStyle/>
          <a:p>
            <a:pPr>
              <a:buNone/>
              <a:def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向量索引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4360" y="566738"/>
            <a:ext cx="1033272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/>
          </a:bodyPr>
          <a:lstStyle/>
          <a:p>
            <a:pPr>
              <a:buNone/>
              <a:defRPr sz="22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方案：稳定可复现的 Redis 问答链路</a:t>
            </a:r>
            <a:endParaRPr sz="22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4360" y="6528435"/>
            <a:ext cx="5303520" cy="1647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8334"/>
          </a:bodyPr>
          <a:lstStyle/>
          <a:p>
            <a:pPr>
              <a:buNone/>
              <a:defRPr sz="8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 垂直领域问答  |  6/16</a:t>
            </a:r>
            <a:endParaRPr sz="825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066800"/>
            <a:ext cx="10820400" cy="552450"/>
          </a:xfrm>
          <a:prstGeom prst="roundRect">
            <a:avLst>
              <a:gd name="adj" fmla="val 12069"/>
            </a:avLst>
          </a:prstGeom>
          <a:solidFill>
            <a:srgbClr val="D92D20"/>
          </a:solidFill>
          <a:ln w="0">
            <a:solidFill>
              <a:srgbClr val="D92D2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11811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187"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采用：官方文档知识库 + 技术词分块 + 哈希嵌入 + 本地索引文件 + 关键词/语义混合检索 + 二阶段重排序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2076450"/>
            <a:ext cx="1428750" cy="666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2D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181225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官方文档资料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14 篇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324100" y="2409825"/>
            <a:ext cx="400050" cy="0"/>
          </a:xfrm>
          <a:prstGeom prst="line">
            <a:avLst/>
          </a:prstGeom>
          <a:noFill/>
          <a:ln w="17145">
            <a:solidFill>
              <a:srgbClr val="D92D20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819400" y="2076450"/>
            <a:ext cx="1524000" cy="666750"/>
          </a:xfrm>
          <a:prstGeom prst="roundRect">
            <a:avLst>
              <a:gd name="adj" fmla="val 10000"/>
            </a:avLst>
          </a:prstGeom>
          <a:solidFill>
            <a:srgbClr val="FDE8E5"/>
          </a:solidFill>
          <a:ln w="11430">
            <a:solidFill>
              <a:srgbClr val="D92D2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14650" y="2181225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技术词分块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166 个检索片段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457700" y="2409825"/>
            <a:ext cx="400050" cy="0"/>
          </a:xfrm>
          <a:prstGeom prst="line">
            <a:avLst/>
          </a:prstGeom>
          <a:noFill/>
          <a:ln w="17145">
            <a:solidFill>
              <a:srgbClr val="D92D20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4953000" y="2076450"/>
            <a:ext cx="1524000" cy="66675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048250" y="2181225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哈希嵌入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本地生成向量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591300" y="2409825"/>
            <a:ext cx="400050" cy="0"/>
          </a:xfrm>
          <a:prstGeom prst="line">
            <a:avLst/>
          </a:prstGeom>
          <a:noFill/>
          <a:ln w="17145">
            <a:solidFill>
              <a:srgbClr val="D92D20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7086600" y="2076450"/>
            <a:ext cx="1524000" cy="666750"/>
          </a:xfrm>
          <a:prstGeom prst="roundRect">
            <a:avLst>
              <a:gd name="adj" fmla="val 10000"/>
            </a:avLst>
          </a:prstGeom>
          <a:solidFill>
            <a:srgbClr val="E9F8F4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81850" y="2181225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本地索引文件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向量索引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724900" y="2409825"/>
            <a:ext cx="400050" cy="0"/>
          </a:xfrm>
          <a:prstGeom prst="line">
            <a:avLst/>
          </a:prstGeom>
          <a:noFill/>
          <a:ln w="17145">
            <a:solidFill>
              <a:srgbClr val="D92D20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9220200" y="2076450"/>
            <a:ext cx="1809750" cy="666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92D2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315450" y="218122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混合检索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最终排序</a:t>
            </a:r>
            <a:endParaRPr sz="116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81050" y="3219450"/>
            <a:ext cx="31432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219450"/>
            <a:ext cx="91440" cy="1581150"/>
          </a:xfrm>
          <a:prstGeom prst="rect">
            <a:avLst/>
          </a:prstGeom>
          <a:solidFill>
            <a:srgbClr val="D92D20"/>
          </a:solidFill>
          <a:ln w="0">
            <a:solidFill>
              <a:srgbClr val="D92D2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09650" y="3381375"/>
            <a:ext cx="2762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88" lnSpcReduction="10000"/>
          </a:bodyPr>
          <a:lstStyle/>
          <a:p>
            <a:pPr>
              <a:buNone/>
              <a:defRPr sz="142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142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组件</a:t>
            </a:r>
            <a:r>
              <a:rPr sz="142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解释</a:t>
            </a:r>
            <a:endParaRPr sz="142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09650" y="3765550"/>
            <a:ext cx="2762250" cy="90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lnSpcReduction="20000"/>
          </a:bodyPr>
          <a:lstStyle/>
          <a:p>
            <a:pPr>
              <a:buNone/>
              <a:defRPr sz="1165" b="0">
                <a:solidFill>
                  <a:srgbClr val="24313D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技术词分块：按持久化、过期时间等术语切分，并保留相邻片段重叠，避免上下文断开。</a:t>
            </a:r>
            <a:endParaRPr sz="1165" b="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>
              <a:buNone/>
              <a:defRPr sz="1165" b="0">
                <a:solidFill>
                  <a:srgbClr val="24313D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1165" b="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哈希嵌入：</a:t>
            </a:r>
            <a:r>
              <a:rPr sz="1165" b="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用哈希算法把文本变成本地向量，不依赖外部模型或服务。</a:t>
            </a:r>
            <a:endParaRPr sz="1165" b="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514850" y="3219450"/>
            <a:ext cx="31432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4514850" y="3219450"/>
            <a:ext cx="91440" cy="15811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743450" y="3381375"/>
            <a:ext cx="2762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88"/>
          </a:bodyPr>
          <a:lstStyle/>
          <a:p>
            <a:pPr>
              <a:buNone/>
              <a:defRPr sz="142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检索与排序</a:t>
            </a:r>
            <a:endParaRPr sz="142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743450" y="3720465"/>
            <a:ext cx="2762250" cy="946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140" b="0">
                <a:solidFill>
                  <a:srgbClr val="24313D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本地索引文件：保存片段、来源和向量，方便加载和复现。
混合检索：关键词检索负责精确命中，向量检索补充语义相似。</a:t>
            </a:r>
            <a:endParaRPr sz="1140" b="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248650" y="3219450"/>
            <a:ext cx="31432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8248650" y="3219450"/>
            <a:ext cx="91440" cy="15811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477250" y="3381375"/>
            <a:ext cx="2762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88"/>
          </a:bodyPr>
          <a:lstStyle/>
          <a:p>
            <a:pPr>
              <a:buNone/>
              <a:defRPr sz="142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生成与检查</a:t>
            </a:r>
            <a:endParaRPr sz="1425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477250" y="37909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140" b="0">
                <a:solidFill>
                  <a:srgbClr val="24313D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二阶段重排序：先召回候选，再把最相关片段排在前面。
引用检查：答案必须带来源编号，并检查内容是否有依据。</a:t>
            </a:r>
            <a:endParaRPr sz="1140" b="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高级 RAG 优化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Query Rewriting：连接中文问题与英文术语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7/16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822960" y="1143000"/>
            <a:ext cx="3485236" cy="586740"/>
          </a:xfrm>
          <a:prstGeom prst="rect">
            <a:avLst/>
          </a:prstGeom>
          <a:solidFill>
            <a:srgbClr val="FDE8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4308196" y="1143000"/>
            <a:ext cx="7076084" cy="586740"/>
          </a:xfrm>
          <a:prstGeom prst="rect">
            <a:avLst/>
          </a:prstGeom>
          <a:solidFill>
            <a:srgbClr val="FDE8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932688" y="1225296"/>
            <a:ext cx="3302356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用户表达</a:t>
            </a:r>
            <a:endParaRPr sz="13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4417924" y="1225296"/>
            <a:ext cx="6893204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00" b="1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扩展后的检索术语</a:t>
            </a:r>
            <a:endParaRPr sz="1300" b="1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822960" y="172974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4308196" y="172974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932688" y="1812036"/>
            <a:ext cx="3302356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持久化</a:t>
            </a:r>
            <a:endParaRPr sz="1220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417924" y="1812036"/>
            <a:ext cx="6893204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persistence, RDB, AOF, snapshot, append only file, durability</a:t>
            </a:r>
            <a:endParaRPr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22960" y="231648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4308196" y="231648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932688" y="2398776"/>
            <a:ext cx="3302356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高可用</a:t>
            </a:r>
            <a:endParaRPr sz="1220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417924" y="2398776"/>
            <a:ext cx="6893204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replication, sentinel, failover, cluster</a:t>
            </a:r>
            <a:endParaRPr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822960" y="290322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4308196" y="290322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932688" y="2985516"/>
            <a:ext cx="3302356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过期</a:t>
            </a:r>
            <a:endParaRPr sz="1220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4417924" y="2985516"/>
            <a:ext cx="6893204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expire, TTL, timeout, key expiration</a:t>
            </a:r>
            <a:endParaRPr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22960" y="348996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4308196" y="348996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932688" y="3572256"/>
            <a:ext cx="3302356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队列</a:t>
            </a:r>
            <a:endParaRPr sz="1220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4417924" y="3572256"/>
            <a:ext cx="6893204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list, stream, consumer group, XREADGROUP</a:t>
            </a:r>
            <a:endParaRPr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822960" y="407670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>
            <a:spLocks noGrp="1"/>
          </p:cNvSpPr>
          <p:nvPr/>
        </p:nvSpPr>
        <p:spPr>
          <a:xfrm>
            <a:off x="4308196" y="407670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>
            <a:spLocks noGrp="1"/>
          </p:cNvSpPr>
          <p:nvPr/>
        </p:nvSpPr>
        <p:spPr>
          <a:xfrm>
            <a:off x="932688" y="4158996"/>
            <a:ext cx="3302356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Lua</a:t>
            </a:r>
            <a:endParaRPr sz="1220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4417924" y="4158996"/>
            <a:ext cx="6893204" cy="440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eval, script, scripting, atomic</a:t>
            </a:r>
            <a:endParaRPr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960120" y="5166360"/>
            <a:ext cx="10241280" cy="566928"/>
          </a:xfrm>
          <a:prstGeom prst="roundRect">
            <a:avLst>
              <a:gd name="adj" fmla="val 645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>
            <a:spLocks noGrp="1"/>
          </p:cNvSpPr>
          <p:nvPr/>
        </p:nvSpPr>
        <p:spPr>
          <a:xfrm>
            <a:off x="1143000" y="527608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作用：提升召回率，减少“中文提问找不到英文文档术语”的问题</a:t>
            </a:r>
            <a:endParaRPr sz="1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高级 RAG 优化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7055"/>
            <a:ext cx="10332720" cy="49149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20000"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优化方案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Hybrid Retrieval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BM25 与向量检索互补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8/16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822960" y="1097280"/>
            <a:ext cx="49377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051560" y="1408176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score = 0.45 × vector + 0.55 × BM25</a:t>
            </a:r>
            <a:endParaRPr sz="1600" b="1">
              <a:solidFill>
                <a:srgbClr val="17212B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822960" y="246888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822960" y="2468880"/>
            <a:ext cx="91440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1060704" y="2633472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向量检索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1060704" y="3035808"/>
            <a:ext cx="2953512" cy="11612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擅长语义相似：例如“高可用”与“failover”之间不完全字面匹配，但语义相关。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4434840" y="246888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3" name="Shape 11"/>
          <p:cNvSpPr>
            <a:spLocks noGrp="1"/>
          </p:cNvSpPr>
          <p:nvPr/>
        </p:nvSpPr>
        <p:spPr>
          <a:xfrm>
            <a:off x="4434840" y="2468880"/>
            <a:ext cx="91440" cy="187452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4672584" y="2633472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BM25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672584" y="3035808"/>
            <a:ext cx="2953512" cy="11612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擅长精确匹配：AOF、RDB、TTL、WATCH 等命令名必须被强命中。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8046720" y="246888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8046720" y="2468880"/>
            <a:ext cx="91440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8284464" y="2633472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融合排序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8284464" y="3035808"/>
            <a:ext cx="2953512" cy="11612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先归一化两个分数，再线性加权。Redis 场景中 BM25 权重略高。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868680" y="521208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核心判断：Redis 问答不是纯语义任务，而是“语义理解 + 精确术语命中”的组合任务。</a:t>
            </a:r>
            <a:endParaRPr sz="16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33465" y="1020445"/>
            <a:ext cx="58127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BM25 </a:t>
            </a:r>
            <a:r>
              <a:rPr lang="zh-CN" altLang="en-US"/>
              <a:t>更高的权重（</a:t>
            </a:r>
            <a:r>
              <a:rPr lang="en-US" altLang="zh-CN"/>
              <a:t>0.55</a:t>
            </a:r>
            <a:r>
              <a:rPr lang="zh-CN" altLang="en-US"/>
              <a:t>），是因为</a:t>
            </a:r>
            <a:r>
              <a:rPr lang="en-US" altLang="zh-CN"/>
              <a:t> Redis </a:t>
            </a:r>
            <a:r>
              <a:rPr lang="zh-CN" altLang="en-US"/>
              <a:t>问答中，术语的精确命中比语义相似更重要，比如用户搜</a:t>
            </a:r>
            <a:r>
              <a:rPr lang="en-US" altLang="zh-CN"/>
              <a:t>RDB</a:t>
            </a:r>
            <a:r>
              <a:rPr lang="zh-CN" altLang="en-US"/>
              <a:t>，必须优先召回包含</a:t>
            </a:r>
            <a:r>
              <a:rPr lang="en-US" altLang="zh-CN"/>
              <a:t>RDB</a:t>
            </a:r>
            <a:r>
              <a:rPr lang="zh-CN" altLang="en-US"/>
              <a:t>的文档，而不是只语义相似的持久化文档。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系统流程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端到端系统架构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 垂直领域问答  |  9/16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782320" y="1139825"/>
            <a:ext cx="10047605" cy="4984750"/>
          </a:xfrm>
          <a:prstGeom prst="roundRect">
            <a:avLst>
              <a:gd name="adj" fmla="val 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40" y="1145540"/>
            <a:ext cx="10047605" cy="49002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生成策略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生成模块：DeepSeek 优先，离线可回退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10/16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7772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777240" y="1143000"/>
            <a:ext cx="91440" cy="18288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1014984" y="130759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DeepSeek 模式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014984" y="1709928"/>
            <a:ext cx="3044952" cy="11155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设置 DEEPSEEK_API_KEY 后，默认模型为 deepseek-v4-pro。提示词要求只基于检索上下文回答。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44348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4434840" y="1143000"/>
            <a:ext cx="9144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4672584" y="130759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抽取式回退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672584" y="1709928"/>
            <a:ext cx="3044952" cy="11155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没有 API key 时，从 Top-k 片段中抽取与问题最相关的句子，保证结果可复现。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0924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092440" y="114300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330184" y="1307592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防幻觉机制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330184" y="1709928"/>
            <a:ext cx="3044952" cy="11155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如果上下文不足，要求模型说明无法确认；答案必须带 [1] 形式来源引用。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914400" y="3163570"/>
            <a:ext cx="10031095" cy="147701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1188720" y="3173730"/>
            <a:ext cx="9448165" cy="1341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>
                <a:solidFill>
                  <a:srgbClr val="17212B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export DEEPSEEK_API_KEY="..."</a:t>
            </a:r>
            <a:endParaRPr>
              <a:solidFill>
                <a:srgbClr val="17212B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>
                <a:solidFill>
                  <a:srgbClr val="17212B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export OPENAI_MODEL="deepseek-v4-pro"</a:t>
            </a:r>
            <a:endParaRPr>
              <a:solidFill>
                <a:srgbClr val="17212B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>
                <a:solidFill>
                  <a:srgbClr val="17212B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python3 infer.py --question "Redis Sentinel 主要解决什么问题？"</a:t>
            </a:r>
            <a:endParaRPr>
              <a:solidFill>
                <a:srgbClr val="17212B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pic>
        <p:nvPicPr>
          <p:cNvPr id="39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215" y="4717415"/>
            <a:ext cx="7885430" cy="1477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评估方案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量化评估：三个维度衡量 RAG 能力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11/16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731520" y="1234440"/>
            <a:ext cx="342900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731520" y="1234440"/>
            <a:ext cx="91440" cy="201168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969010" y="1424305"/>
            <a:ext cx="3044825" cy="310515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Context Relevance</a:t>
            </a:r>
            <a:r>
              <a:rPr sz="1600" b="1">
                <a:latin typeface="微软雅黑"/>
                <a:ea typeface="微软雅黑"/>
                <a:cs typeface="微软雅黑"/>
              </a:rPr>
              <a:t>（上下文相关性）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69010" y="2077720"/>
            <a:ext cx="3044825" cy="10223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检索结果是否覆盖标注相关文档。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buNone/>
            </a:pPr>
          </a:p>
          <a:p>
            <a:pPr marL="0" indent="0">
              <a:buNone/>
            </a:p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4389120" y="1234440"/>
            <a:ext cx="342900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4389120" y="1234440"/>
            <a:ext cx="91440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4626610" y="1398905"/>
            <a:ext cx="3044825" cy="3473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Faithfulness</a:t>
            </a:r>
            <a:r>
              <a:rPr sz="1400" b="1">
                <a:latin typeface="微软雅黑"/>
                <a:ea typeface="微软雅黑"/>
                <a:cs typeface="微软雅黑"/>
              </a:rPr>
              <a:t>（答案忠实度）</a:t>
            </a:r>
            <a:endParaRPr sz="14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626610" y="2078355"/>
            <a:ext cx="3044825" cy="10217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答案内容是否被检索上下文支持。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buNone/>
            </a:pPr>
          </a:p>
          <a:p>
            <a:pPr marL="0" indent="0">
              <a:buNone/>
            </a:p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900670" y="1206500"/>
            <a:ext cx="342900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8046720" y="1234440"/>
            <a:ext cx="91440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284210" y="1398905"/>
            <a:ext cx="3225800" cy="3835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4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Answer Relevance</a:t>
            </a:r>
            <a:r>
              <a:rPr sz="1400" b="1">
                <a:latin typeface="微软雅黑"/>
                <a:ea typeface="微软雅黑"/>
                <a:cs typeface="微软雅黑"/>
              </a:rPr>
              <a:t>（答案相关性）</a:t>
            </a:r>
            <a:endParaRPr sz="14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284210" y="2078355"/>
            <a:ext cx="3044825" cy="10217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答案是否覆盖问题所需关键词。</a:t>
            </a:r>
            <a:endParaRPr sz="160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buNone/>
            </a:pPr>
          </a:p>
          <a:p>
            <a:pPr marL="0" indent="0">
              <a:buNone/>
            </a:p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822960" y="3977640"/>
            <a:ext cx="10561320" cy="118872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822960" y="3977640"/>
            <a:ext cx="914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1060704" y="4142232"/>
            <a:ext cx="1017727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评估集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0450" y="4398645"/>
            <a:ext cx="10177145" cy="621665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4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20 条 Redis 技术问题，覆盖数据结构、持久化、高可用、集群、Lua、缓存风险等。</a:t>
            </a:r>
            <a:endParaRPr sz="14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4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输出保存为 outputs/eval_results.json 与 outputs/eval_results.csv。</a:t>
            </a:r>
            <a:endParaRPr sz="14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评估方案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实验结果与解释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12/16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1"/>
          <a:srcRect l="-708" t="19854" r="2427" b="3311"/>
          <a:stretch>
            <a:fillRect/>
          </a:stretch>
        </p:blipFill>
        <p:spPr>
          <a:xfrm>
            <a:off x="1049020" y="944245"/>
            <a:ext cx="9906635" cy="4246245"/>
          </a:xfrm>
          <a:prstGeom prst="rect">
            <a:avLst/>
          </a:prstGeom>
        </p:spPr>
      </p:pic>
      <p:sp>
        <p:nvSpPr>
          <p:cNvPr id="8" name="文本框 7"/>
          <p:cNvSpPr>
            <a:spLocks noGrp="1"/>
          </p:cNvSpPr>
          <p:nvPr/>
        </p:nvSpPr>
        <p:spPr>
          <a:xfrm>
            <a:off x="1163955" y="5343525"/>
            <a:ext cx="9478645" cy="11563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20 条问题下，</a:t>
            </a:r>
            <a:r>
              <a:t>上下文相关性</a:t>
            </a:r>
            <a:r>
              <a:t>是 0.9750，说明检索整体比较稳定，但对于个别多主题问题仍然可能漏掉一部分 gold 文档；</a:t>
            </a:r>
            <a:r>
              <a:t>答案忠实度</a:t>
            </a:r>
            <a:r>
              <a:t>是 0.8319</a:t>
            </a:r>
            <a:r>
              <a:t>，</a:t>
            </a:r>
            <a:r>
              <a:t>说明答案大部分内容能被检索上下文支持；</a:t>
            </a:r>
            <a:r>
              <a:t>答案相关性</a:t>
            </a:r>
            <a:r>
              <a:t>是 0.9375，说明答案基本覆盖关键要点。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347663"/>
          </a:xfrm>
          <a:prstGeom prst="rect">
            <a:avLst/>
          </a:prstGeom>
          <a:solidFill>
            <a:srgbClr val="D92D20"/>
          </a:solidFill>
          <a:ln w="0">
            <a:solidFill>
              <a:srgbClr val="D92D20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48640" y="91440"/>
            <a:ext cx="4023360" cy="146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8333"/>
          </a:bodyPr>
          <a:lstStyle/>
          <a:p>
            <a:pPr>
              <a:buNone/>
              <a:def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可视化展示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4360" y="566738"/>
            <a:ext cx="10332720" cy="38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78"/>
          </a:bodyPr>
          <a:lstStyle/>
          <a:p>
            <a:pPr>
              <a:buNone/>
              <a:defRPr sz="22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前端页面可视化展示效果</a:t>
            </a:r>
            <a:endParaRPr sz="225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4360" y="6528435"/>
            <a:ext cx="5303520" cy="1647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8334"/>
          </a:bodyPr>
          <a:lstStyle/>
          <a:p>
            <a:pPr>
              <a:buNone/>
              <a:defRPr sz="8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16/16</a:t>
            </a:r>
            <a:endParaRPr sz="825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47750"/>
            <a:ext cx="1038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294"/>
          </a:bodyPr>
          <a:lstStyle/>
          <a:p>
            <a:pPr>
              <a:buNone/>
              <a:defRPr sz="1275" b="0">
                <a:solidFill>
                  <a:srgbClr val="24313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把 RAG 的问答、检索证据、评分和引用检查放到一个页面里，方便演示系统不是只在命令行运行。</a:t>
            </a:r>
            <a:endParaRPr sz="1275" b="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71500" y="1428750"/>
            <a:ext cx="1104900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524000"/>
            <a:ext cx="10858500" cy="457200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1524000" y="5962650"/>
            <a:ext cx="9144000" cy="40005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695450" y="6076950"/>
            <a:ext cx="880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36842"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展示重点：用户问题 → 带引用答案 → Top-3 检索证据 → 三维评估指标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评估方案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7055"/>
            <a:ext cx="10597515" cy="384175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0000"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检索策略消融：Vector</a:t>
            </a:r>
            <a:r>
              <a:rPr sz="2500"/>
              <a:t>（纯向量）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、BM25</a:t>
            </a:r>
            <a:r>
              <a:rPr sz="2500"/>
              <a:t>（纯关键词）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、Hybrid </a:t>
            </a:r>
            <a:r>
              <a:rPr sz="2500"/>
              <a:t>（混合检索）</a:t>
            </a: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对比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13/16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1"/>
          <a:srcRect t="24380" r="975"/>
          <a:stretch>
            <a:fillRect/>
          </a:stretch>
        </p:blipFill>
        <p:spPr>
          <a:xfrm>
            <a:off x="1879600" y="1585595"/>
            <a:ext cx="8460740" cy="3251835"/>
          </a:xfrm>
          <a:prstGeom prst="rect">
            <a:avLst/>
          </a:prstGeom>
        </p:spPr>
      </p:pic>
      <p:sp>
        <p:nvSpPr>
          <p:cNvPr id="8" name="文本框 7"/>
          <p:cNvSpPr>
            <a:spLocks noGrp="1"/>
          </p:cNvSpPr>
          <p:nvPr/>
        </p:nvSpPr>
        <p:spPr>
          <a:xfrm>
            <a:off x="1484630" y="1191895"/>
            <a:ext cx="6189345" cy="466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检索策略消融对比：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4730" y="4733290"/>
            <a:ext cx="10046970" cy="171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对比了四种检索策略在</a:t>
            </a:r>
            <a:r>
              <a:rPr lang="en-US" altLang="zh-CN"/>
              <a:t>Redis</a:t>
            </a:r>
            <a:r>
              <a:rPr lang="zh-CN" altLang="en-US"/>
              <a:t>技术问答场景下的表现：</a:t>
            </a:r>
            <a:endParaRPr lang="zh-CN" altLang="en-US"/>
          </a:p>
          <a:p>
            <a:r>
              <a:rPr lang="zh-CN" altLang="en-US"/>
              <a:t>纯向量检索在术语密集场景下表现最差，三项指标均偏低；</a:t>
            </a:r>
            <a:endParaRPr lang="zh-CN" altLang="en-US"/>
          </a:p>
          <a:p>
            <a:r>
              <a:rPr lang="zh-CN" altLang="en-US"/>
              <a:t>纯</a:t>
            </a:r>
            <a:r>
              <a:rPr lang="en-US" altLang="zh-CN"/>
              <a:t>BM25</a:t>
            </a:r>
            <a:r>
              <a:rPr lang="zh-CN" altLang="en-US"/>
              <a:t>关键词检索因精准命中专业术语，三项指标均为满分；</a:t>
            </a:r>
            <a:endParaRPr lang="zh-CN" altLang="en-US"/>
          </a:p>
          <a:p>
            <a:r>
              <a:rPr lang="zh-CN" altLang="en-US"/>
              <a:t>向量</a:t>
            </a:r>
            <a:r>
              <a:rPr lang="en-US" altLang="zh-CN"/>
              <a:t>+BM25</a:t>
            </a:r>
            <a:r>
              <a:rPr lang="zh-CN" altLang="en-US"/>
              <a:t>混合检索表现接近纯</a:t>
            </a:r>
            <a:r>
              <a:rPr lang="en-US" altLang="zh-CN"/>
              <a:t>BM25</a:t>
            </a:r>
            <a:r>
              <a:rPr lang="zh-CN" altLang="en-US"/>
              <a:t>，兼顾了语义理解与术语匹配；</a:t>
            </a:r>
            <a:endParaRPr lang="zh-CN" altLang="en-US"/>
          </a:p>
          <a:p>
            <a:r>
              <a:rPr lang="zh-CN" altLang="en-US"/>
              <a:t>混合检索</a:t>
            </a:r>
            <a:r>
              <a:rPr lang="en-US" altLang="zh-CN"/>
              <a:t>+</a:t>
            </a:r>
            <a:r>
              <a:rPr lang="zh-CN" altLang="en-US"/>
              <a:t>重排序的核心指标与混合检索一致，但提供了可解释的排序依据。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案例与反思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案例分析：AOF 与 RDB 持久化问答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14/16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1024128"/>
            <a:ext cx="11045952" cy="523036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rcRect l="2549" t="19258" r="2009" b="10550"/>
          <a:stretch>
            <a:fillRect/>
          </a:stretch>
        </p:blipFill>
        <p:spPr>
          <a:xfrm>
            <a:off x="1193800" y="1855470"/>
            <a:ext cx="9937115" cy="3608070"/>
          </a:xfrm>
          <a:prstGeom prst="rect">
            <a:avLst/>
          </a:prstGeom>
        </p:spPr>
      </p:pic>
      <p:sp>
        <p:nvSpPr>
          <p:cNvPr id="8" name="文本框 7"/>
          <p:cNvSpPr>
            <a:spLocks noGrp="1"/>
          </p:cNvSpPr>
          <p:nvPr/>
        </p:nvSpPr>
        <p:spPr>
          <a:xfrm>
            <a:off x="1193800" y="1402715"/>
            <a:ext cx="5970905" cy="623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/>
              <a:t>推理运行结果：</a:t>
            </a:r>
            <a:endParaRPr sz="2000"/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916305" y="5631180"/>
            <a:ext cx="105054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系统最终命中了 redis:persistence 文档，最终 score 是 1.0819，其中 combined_score 是 1.0000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总结</a:t>
            </a:r>
            <a:endParaRPr sz="7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检索分数、Bad Case 与总结</a:t>
            </a:r>
            <a:endParaRPr sz="25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Redis-RAG 垂直领域问答  |  15/16</a:t>
            </a:r>
            <a:endParaRPr sz="8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rcRect r="1540" b="19587"/>
          <a:stretch>
            <a:fillRect/>
          </a:stretch>
        </p:blipFill>
        <p:spPr>
          <a:xfrm>
            <a:off x="1337945" y="1247775"/>
            <a:ext cx="8934450" cy="3261360"/>
          </a:xfrm>
          <a:prstGeom prst="rect">
            <a:avLst/>
          </a:prstGeom>
        </p:spPr>
      </p:pic>
      <p:sp>
        <p:nvSpPr>
          <p:cNvPr id="8" name="Shape 5"/>
          <p:cNvSpPr>
            <a:spLocks noGrp="1"/>
          </p:cNvSpPr>
          <p:nvPr/>
        </p:nvSpPr>
        <p:spPr>
          <a:xfrm>
            <a:off x="685800" y="5468112"/>
            <a:ext cx="3429000" cy="896112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85800" y="5468112"/>
            <a:ext cx="91440" cy="89611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923544" y="5632704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Bad Case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923290" y="5927090"/>
            <a:ext cx="3044825" cy="29083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0000"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Pub/Sub 含“不会持久化”，容易成为弱相关召回。</a:t>
            </a:r>
            <a:endParaRPr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389120" y="5468112"/>
            <a:ext cx="3429000" cy="896112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4389120" y="5468112"/>
            <a:ext cx="9144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4626864" y="5632704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改进</a:t>
            </a:r>
            <a:endParaRPr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 12"/>
          <p:cNvSpPr>
            <a:spLocks noGrp="1"/>
          </p:cNvSpPr>
          <p:nvPr/>
        </p:nvSpPr>
        <p:spPr>
          <a:xfrm>
            <a:off x="4626610" y="5960745"/>
            <a:ext cx="3044825" cy="2571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Query </a:t>
            </a:r>
            <a:r>
              <a:rPr lang="zh-CN"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重写</a:t>
            </a: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lang="zh-CN"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混合检索</a:t>
            </a: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  + </a:t>
            </a:r>
            <a:r>
              <a:rPr lang="zh-CN"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重排序</a:t>
            </a:r>
            <a:endParaRPr lang="zh-CN"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8092440" y="5468112"/>
            <a:ext cx="3429000" cy="896112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7DEE8">
                <a:alpha val="18000"/>
              </a:srgbClr>
            </a:outerShdw>
          </a:effectLst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8092440" y="5468112"/>
            <a:ext cx="9144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8330184" y="5632704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1600" b="1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结果展示</a:t>
            </a:r>
            <a:endParaRPr lang="zh-CN" sz="1600" b="1">
              <a:solidFill>
                <a:srgbClr val="1721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8329930" y="5961380"/>
            <a:ext cx="3044825" cy="33337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652"/>
          </a:bodyPr>
          <a:lstStyle/>
          <a:p>
            <a:pPr marL="0" indent="0">
              <a:buNone/>
            </a:pPr>
            <a:r>
              <a:rPr sz="1220">
                <a:solidFill>
                  <a:srgbClr val="24313D"/>
                </a:solidFill>
                <a:latin typeface="微软雅黑"/>
                <a:ea typeface="微软雅黑"/>
                <a:cs typeface="微软雅黑"/>
              </a:rPr>
              <a:t>官方文档知识库、166 个检索片段、混合检索、前端可视化展示。</a:t>
            </a:r>
            <a:endParaRPr sz="1220">
              <a:solidFill>
                <a:srgbClr val="2431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4190" y="4704715"/>
            <a:ext cx="11016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表格清晰展示了在</a:t>
            </a:r>
            <a:r>
              <a:rPr lang="en-US" altLang="zh-CN"/>
              <a:t>“Redis</a:t>
            </a:r>
            <a:r>
              <a:rPr lang="zh-CN" altLang="en-US"/>
              <a:t>持久化</a:t>
            </a:r>
            <a:r>
              <a:rPr lang="en-US" altLang="zh-CN"/>
              <a:t>”</a:t>
            </a:r>
            <a:r>
              <a:rPr lang="zh-CN" altLang="en-US"/>
              <a:t>相关问题的检索结果中，</a:t>
            </a:r>
            <a:r>
              <a:rPr lang="en-US" altLang="zh-CN"/>
              <a:t>redis:persistence</a:t>
            </a:r>
            <a:r>
              <a:rPr lang="zh-CN" altLang="en-US"/>
              <a:t>文档凭借最高的重排序分数和术语覆盖率稳稳排在第一位，其余弱相关</a:t>
            </a:r>
            <a:r>
              <a:rPr lang="en-US" altLang="zh-CN"/>
              <a:t>/</a:t>
            </a:r>
            <a:r>
              <a:rPr lang="zh-CN" altLang="en-US"/>
              <a:t>无关文档则被有效压低排名，验证了系统能精准定位核心文档。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3956</Words>
  <Application>WPS 文字</Application>
  <PresentationFormat>Converted Presentation</PresentationFormat>
  <Paragraphs>326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Courier New</vt:lpstr>
      <vt:lpstr>微软雅黑</vt:lpstr>
      <vt:lpstr>微软雅黑</vt:lpstr>
      <vt:lpstr>Calibri</vt:lpstr>
      <vt:lpstr>Helvetica Neue</vt:lpstr>
      <vt:lpstr>汉仪书宋二KW</vt:lpstr>
      <vt:lpstr>宋体</vt:lpstr>
      <vt:lpstr>Arial Unicode MS</vt:lpstr>
      <vt:lpstr>等线</vt:lpstr>
      <vt:lpstr>汉仪中等线KW</vt:lpstr>
      <vt:lpstr>Courier New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5555</cp:lastModifiedBy>
  <cp:revision>5</cp:revision>
  <dcterms:created xsi:type="dcterms:W3CDTF">2026-06-24T02:58:26Z</dcterms:created>
  <dcterms:modified xsi:type="dcterms:W3CDTF">2026-06-24T02:58:26Z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E1C8463DF58ACB86C624326A6CCB9B68_42</vt:lpwstr>
  </property>
  <property fmtid="{D5CDD505-2E9C-101B-9397-08002B2CF9AE}" pid="3" name="KSOProductBuildVer">
    <vt:lpwstr>2052-12.1.25205.25205</vt:lpwstr>
  </property>
</Properties>
</file>